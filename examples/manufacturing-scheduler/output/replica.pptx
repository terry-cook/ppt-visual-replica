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630400" cy="8234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4630400" cy="82339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" name="title"/>
          <p:cNvSpPr txBox="1"/>
          <p:nvPr/>
        </p:nvSpPr>
        <p:spPr>
          <a:xfrm>
            <a:off x="2275062" y="113753"/>
            <a:ext cx="10062775" cy="4821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800" b="1">
                <a:solidFill>
                  <a:srgbClr val="0B2A67"/>
                </a:solidFill>
                <a:latin typeface="Microsoft YaHei"/>
              </a:rPr>
              <a:t>面向智能制造的多机器人协同调度与资源优化架构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652654" y="603766"/>
            <a:ext cx="332509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b="1">
                <a:solidFill>
                  <a:srgbClr val="0E67C8"/>
                </a:solidFill>
                <a:latin typeface="Microsoft YaHei"/>
              </a:rPr>
              <a:t>多源感知—智能调度—闭环优化</a:t>
            </a:r>
          </a:p>
        </p:txBody>
      </p:sp>
      <p:sp>
        <p:nvSpPr>
          <p:cNvPr id="5" name="panel_scene"/>
          <p:cNvSpPr/>
          <p:nvPr/>
        </p:nvSpPr>
        <p:spPr>
          <a:xfrm>
            <a:off x="87502" y="927525"/>
            <a:ext cx="14332891" cy="2240061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1A6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pic>
        <p:nvPicPr>
          <p:cNvPr id="6" name="scene_bg" descr="scene_background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526" y="936275"/>
            <a:ext cx="13309369" cy="2222560"/>
          </a:xfrm>
          <a:prstGeom prst="rect">
            <a:avLst/>
          </a:prstGeom>
        </p:spPr>
      </p:pic>
      <p:sp>
        <p:nvSpPr>
          <p:cNvPr id="7" name="panel_scheduler"/>
          <p:cNvSpPr/>
          <p:nvPr/>
        </p:nvSpPr>
        <p:spPr>
          <a:xfrm>
            <a:off x="87502" y="3587598"/>
            <a:ext cx="14332891" cy="2257561"/>
          </a:xfrm>
          <a:prstGeom prst="roundRect">
            <a:avLst/>
          </a:prstGeom>
          <a:solidFill>
            <a:srgbClr val="F7FEFE"/>
          </a:solidFill>
          <a:ln w="1524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panel_output"/>
          <p:cNvSpPr/>
          <p:nvPr/>
        </p:nvSpPr>
        <p:spPr>
          <a:xfrm>
            <a:off x="87502" y="6256421"/>
            <a:ext cx="14332891" cy="1618794"/>
          </a:xfrm>
          <a:prstGeom prst="roundRect">
            <a:avLst/>
          </a:prstGeom>
          <a:solidFill>
            <a:srgbClr val="FFF9F2"/>
          </a:solidFill>
          <a:ln w="15240">
            <a:solidFill>
              <a:srgbClr val="FF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" name="ribbon_106"/>
          <p:cNvSpPr/>
          <p:nvPr/>
        </p:nvSpPr>
        <p:spPr>
          <a:xfrm>
            <a:off x="87502" y="927525"/>
            <a:ext cx="892524" cy="2240061"/>
          </a:xfrm>
          <a:prstGeom prst="rect">
            <a:avLst/>
          </a:prstGeom>
          <a:solidFill>
            <a:srgbClr val="0E6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ribbon_tip_106"/>
          <p:cNvSpPr/>
          <p:nvPr/>
        </p:nvSpPr>
        <p:spPr>
          <a:xfrm>
            <a:off x="752520" y="927525"/>
            <a:ext cx="455012" cy="507513"/>
          </a:xfrm>
          <a:prstGeom prst="rtTriangle">
            <a:avLst/>
          </a:prstGeom>
          <a:solidFill>
            <a:srgbClr val="0E6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ribbon_icon_ring_106"/>
          <p:cNvSpPr/>
          <p:nvPr/>
        </p:nvSpPr>
        <p:spPr>
          <a:xfrm>
            <a:off x="271257" y="1522541"/>
            <a:ext cx="595016" cy="595016"/>
          </a:xfrm>
          <a:prstGeom prst="ellipse">
            <a:avLst/>
          </a:prstGeom>
          <a:solidFill>
            <a:srgbClr val="0E67C8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ribbon_label_106"/>
          <p:cNvSpPr txBox="1"/>
          <p:nvPr/>
        </p:nvSpPr>
        <p:spPr>
          <a:xfrm>
            <a:off x="113753" y="1136923"/>
            <a:ext cx="84002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场景层</a:t>
            </a:r>
          </a:p>
        </p:txBody>
      </p:sp>
      <p:sp>
        <p:nvSpPr>
          <p:cNvPr id="13" name="ribbon_410"/>
          <p:cNvSpPr/>
          <p:nvPr/>
        </p:nvSpPr>
        <p:spPr>
          <a:xfrm>
            <a:off x="87502" y="3587598"/>
            <a:ext cx="892524" cy="2257561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ribbon_tip_410"/>
          <p:cNvSpPr/>
          <p:nvPr/>
        </p:nvSpPr>
        <p:spPr>
          <a:xfrm>
            <a:off x="752520" y="3587598"/>
            <a:ext cx="455012" cy="507513"/>
          </a:xfrm>
          <a:prstGeom prst="rtTriangle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ribbon_icon_ring_410"/>
          <p:cNvSpPr/>
          <p:nvPr/>
        </p:nvSpPr>
        <p:spPr>
          <a:xfrm>
            <a:off x="271257" y="4340118"/>
            <a:ext cx="595016" cy="595016"/>
          </a:xfrm>
          <a:prstGeom prst="ellipse">
            <a:avLst/>
          </a:prstGeom>
          <a:solidFill>
            <a:srgbClr val="00A8A8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ribbon_label_410"/>
          <p:cNvSpPr txBox="1"/>
          <p:nvPr/>
        </p:nvSpPr>
        <p:spPr>
          <a:xfrm>
            <a:off x="113753" y="3693194"/>
            <a:ext cx="840022" cy="6463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算法与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资源调度层</a:t>
            </a:r>
          </a:p>
        </p:txBody>
      </p:sp>
      <p:sp>
        <p:nvSpPr>
          <p:cNvPr id="17" name="ribbon_715"/>
          <p:cNvSpPr/>
          <p:nvPr/>
        </p:nvSpPr>
        <p:spPr>
          <a:xfrm>
            <a:off x="87502" y="6256421"/>
            <a:ext cx="892524" cy="161879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8" name="ribbon_tip_715"/>
          <p:cNvSpPr/>
          <p:nvPr/>
        </p:nvSpPr>
        <p:spPr>
          <a:xfrm>
            <a:off x="752520" y="6256421"/>
            <a:ext cx="455012" cy="507513"/>
          </a:xfrm>
          <a:prstGeom prst="rtTriangl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9" name="ribbon_icon_ring_715"/>
          <p:cNvSpPr/>
          <p:nvPr/>
        </p:nvSpPr>
        <p:spPr>
          <a:xfrm>
            <a:off x="271257" y="6860187"/>
            <a:ext cx="595016" cy="595016"/>
          </a:xfrm>
          <a:prstGeom prst="ellipse">
            <a:avLst/>
          </a:prstGeom>
          <a:solidFill>
            <a:srgbClr val="FF7A1A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ribbon_label_715"/>
          <p:cNvSpPr txBox="1"/>
          <p:nvPr/>
        </p:nvSpPr>
        <p:spPr>
          <a:xfrm>
            <a:off x="113753" y="6338486"/>
            <a:ext cx="840022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输出决策层</a:t>
            </a:r>
          </a:p>
        </p:txBody>
      </p:sp>
      <p:sp>
        <p:nvSpPr>
          <p:cNvPr id="21" name="sensing_input_card"/>
          <p:cNvSpPr/>
          <p:nvPr/>
        </p:nvSpPr>
        <p:spPr>
          <a:xfrm>
            <a:off x="2082556" y="1050028"/>
            <a:ext cx="2668822" cy="7612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2" name="sensing_input_title"/>
          <p:cNvSpPr txBox="1"/>
          <p:nvPr/>
        </p:nvSpPr>
        <p:spPr>
          <a:xfrm>
            <a:off x="2826327" y="1015027"/>
            <a:ext cx="1242533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0E67C8"/>
                </a:solidFill>
                <a:latin typeface="Microsoft YaHei"/>
              </a:rPr>
              <a:t>多源感知输入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31330" y="1233783"/>
            <a:ext cx="0" cy="288758"/>
          </a:xfrm>
          <a:prstGeom prst="line">
            <a:avLst/>
          </a:prstGeom>
          <a:ln w="12700">
            <a:solidFill>
              <a:srgbClr val="1A65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823854" y="1233783"/>
            <a:ext cx="0" cy="288758"/>
          </a:xfrm>
          <a:prstGeom prst="line">
            <a:avLst/>
          </a:prstGeom>
          <a:ln w="12700">
            <a:solidFill>
              <a:srgbClr val="1A65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205060" y="1610044"/>
            <a:ext cx="647517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1">
                <a:solidFill>
                  <a:srgbClr val="111111"/>
                </a:solidFill>
                <a:latin typeface="Microsoft YaHei"/>
              </a:rPr>
              <a:t>传感器数据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2585" y="1610044"/>
            <a:ext cx="630017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1">
                <a:solidFill>
                  <a:srgbClr val="111111"/>
                </a:solidFill>
                <a:latin typeface="Microsoft YaHei"/>
              </a:rPr>
              <a:t>设备状态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42610" y="1610044"/>
            <a:ext cx="630017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1">
                <a:solidFill>
                  <a:srgbClr val="111111"/>
                </a:solidFill>
                <a:latin typeface="Microsoft YaHei"/>
              </a:rPr>
              <a:t>环境信息</a:t>
            </a:r>
          </a:p>
        </p:txBody>
      </p:sp>
      <p:sp>
        <p:nvSpPr>
          <p:cNvPr id="28" name="Oval 27"/>
          <p:cNvSpPr/>
          <p:nvPr/>
        </p:nvSpPr>
        <p:spPr>
          <a:xfrm>
            <a:off x="2467567" y="1338786"/>
            <a:ext cx="87502" cy="87502"/>
          </a:xfrm>
          <a:prstGeom prst="ellipse">
            <a:avLst/>
          </a:prstGeom>
          <a:solidFill>
            <a:srgbClr val="1A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cxnSp>
        <p:nvCxnSpPr>
          <p:cNvPr id="29" name="Connector 28"/>
          <p:cNvCxnSpPr/>
          <p:nvPr/>
        </p:nvCxnSpPr>
        <p:spPr>
          <a:xfrm>
            <a:off x="2511318" y="1382537"/>
            <a:ext cx="0" cy="612517"/>
          </a:xfrm>
          <a:prstGeom prst="line">
            <a:avLst/>
          </a:prstGeom>
          <a:ln w="12700">
            <a:solidFill>
              <a:srgbClr val="1A6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Down Arrow 29"/>
          <p:cNvSpPr/>
          <p:nvPr/>
        </p:nvSpPr>
        <p:spPr>
          <a:xfrm>
            <a:off x="2458817" y="1933802"/>
            <a:ext cx="105002" cy="192505"/>
          </a:xfrm>
          <a:prstGeom prst="downArrow">
            <a:avLst/>
          </a:prstGeom>
          <a:solidFill>
            <a:srgbClr val="1A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1" name="Oval 30"/>
          <p:cNvSpPr/>
          <p:nvPr/>
        </p:nvSpPr>
        <p:spPr>
          <a:xfrm>
            <a:off x="5530151" y="1338786"/>
            <a:ext cx="87502" cy="87502"/>
          </a:xfrm>
          <a:prstGeom prst="ellipse">
            <a:avLst/>
          </a:prstGeom>
          <a:solidFill>
            <a:srgbClr val="1A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cxnSp>
        <p:nvCxnSpPr>
          <p:cNvPr id="32" name="Connector 31"/>
          <p:cNvCxnSpPr/>
          <p:nvPr/>
        </p:nvCxnSpPr>
        <p:spPr>
          <a:xfrm>
            <a:off x="5573902" y="1382537"/>
            <a:ext cx="0" cy="612517"/>
          </a:xfrm>
          <a:prstGeom prst="line">
            <a:avLst/>
          </a:prstGeom>
          <a:ln w="12700">
            <a:solidFill>
              <a:srgbClr val="1A6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Down Arrow 32"/>
          <p:cNvSpPr/>
          <p:nvPr/>
        </p:nvSpPr>
        <p:spPr>
          <a:xfrm>
            <a:off x="5521400" y="1933802"/>
            <a:ext cx="105002" cy="192505"/>
          </a:xfrm>
          <a:prstGeom prst="downArrow">
            <a:avLst/>
          </a:prstGeom>
          <a:solidFill>
            <a:srgbClr val="1A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4" name="Oval 33"/>
          <p:cNvSpPr/>
          <p:nvPr/>
        </p:nvSpPr>
        <p:spPr>
          <a:xfrm>
            <a:off x="6387674" y="1338786"/>
            <a:ext cx="87502" cy="87502"/>
          </a:xfrm>
          <a:prstGeom prst="ellipse">
            <a:avLst/>
          </a:prstGeom>
          <a:solidFill>
            <a:srgbClr val="1A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cxnSp>
        <p:nvCxnSpPr>
          <p:cNvPr id="35" name="Connector 34"/>
          <p:cNvCxnSpPr/>
          <p:nvPr/>
        </p:nvCxnSpPr>
        <p:spPr>
          <a:xfrm>
            <a:off x="6431425" y="1382537"/>
            <a:ext cx="0" cy="612517"/>
          </a:xfrm>
          <a:prstGeom prst="line">
            <a:avLst/>
          </a:prstGeom>
          <a:ln w="12700">
            <a:solidFill>
              <a:srgbClr val="1A6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Down Arrow 35"/>
          <p:cNvSpPr/>
          <p:nvPr/>
        </p:nvSpPr>
        <p:spPr>
          <a:xfrm>
            <a:off x="6378924" y="1933802"/>
            <a:ext cx="105002" cy="192505"/>
          </a:xfrm>
          <a:prstGeom prst="downArrow">
            <a:avLst/>
          </a:prstGeom>
          <a:solidFill>
            <a:srgbClr val="1A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7" name="Oval 36"/>
          <p:cNvSpPr/>
          <p:nvPr/>
        </p:nvSpPr>
        <p:spPr>
          <a:xfrm>
            <a:off x="7078943" y="1338786"/>
            <a:ext cx="87502" cy="87502"/>
          </a:xfrm>
          <a:prstGeom prst="ellipse">
            <a:avLst/>
          </a:prstGeom>
          <a:solidFill>
            <a:srgbClr val="1A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cxnSp>
        <p:nvCxnSpPr>
          <p:cNvPr id="38" name="Connector 37"/>
          <p:cNvCxnSpPr/>
          <p:nvPr/>
        </p:nvCxnSpPr>
        <p:spPr>
          <a:xfrm>
            <a:off x="7122694" y="1382537"/>
            <a:ext cx="0" cy="612517"/>
          </a:xfrm>
          <a:prstGeom prst="line">
            <a:avLst/>
          </a:prstGeom>
          <a:ln w="12700">
            <a:solidFill>
              <a:srgbClr val="1A6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/>
          <p:nvPr/>
        </p:nvSpPr>
        <p:spPr>
          <a:xfrm>
            <a:off x="7070193" y="1933802"/>
            <a:ext cx="105002" cy="192505"/>
          </a:xfrm>
          <a:prstGeom prst="downArrow">
            <a:avLst/>
          </a:prstGeom>
          <a:solidFill>
            <a:srgbClr val="1A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0" name="Oval 39"/>
          <p:cNvSpPr/>
          <p:nvPr/>
        </p:nvSpPr>
        <p:spPr>
          <a:xfrm>
            <a:off x="7752711" y="1338786"/>
            <a:ext cx="87502" cy="87502"/>
          </a:xfrm>
          <a:prstGeom prst="ellipse">
            <a:avLst/>
          </a:prstGeom>
          <a:solidFill>
            <a:srgbClr val="1A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cxnSp>
        <p:nvCxnSpPr>
          <p:cNvPr id="41" name="Connector 40"/>
          <p:cNvCxnSpPr/>
          <p:nvPr/>
        </p:nvCxnSpPr>
        <p:spPr>
          <a:xfrm>
            <a:off x="7796463" y="1382537"/>
            <a:ext cx="0" cy="612517"/>
          </a:xfrm>
          <a:prstGeom prst="line">
            <a:avLst/>
          </a:prstGeom>
          <a:ln w="12700">
            <a:solidFill>
              <a:srgbClr val="1A6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Down Arrow 41"/>
          <p:cNvSpPr/>
          <p:nvPr/>
        </p:nvSpPr>
        <p:spPr>
          <a:xfrm>
            <a:off x="7743961" y="1933802"/>
            <a:ext cx="105002" cy="192505"/>
          </a:xfrm>
          <a:prstGeom prst="downArrow">
            <a:avLst/>
          </a:prstGeom>
          <a:solidFill>
            <a:srgbClr val="1A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3" name="Oval 42"/>
          <p:cNvSpPr/>
          <p:nvPr/>
        </p:nvSpPr>
        <p:spPr>
          <a:xfrm>
            <a:off x="8741488" y="1338786"/>
            <a:ext cx="87502" cy="87502"/>
          </a:xfrm>
          <a:prstGeom prst="ellipse">
            <a:avLst/>
          </a:prstGeom>
          <a:solidFill>
            <a:srgbClr val="1A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cxnSp>
        <p:nvCxnSpPr>
          <p:cNvPr id="44" name="Connector 43"/>
          <p:cNvCxnSpPr/>
          <p:nvPr/>
        </p:nvCxnSpPr>
        <p:spPr>
          <a:xfrm>
            <a:off x="8785240" y="1382537"/>
            <a:ext cx="0" cy="612517"/>
          </a:xfrm>
          <a:prstGeom prst="line">
            <a:avLst/>
          </a:prstGeom>
          <a:ln w="12700">
            <a:solidFill>
              <a:srgbClr val="1A6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Down Arrow 44"/>
          <p:cNvSpPr/>
          <p:nvPr/>
        </p:nvSpPr>
        <p:spPr>
          <a:xfrm>
            <a:off x="8732738" y="1933802"/>
            <a:ext cx="105002" cy="192505"/>
          </a:xfrm>
          <a:prstGeom prst="downArrow">
            <a:avLst/>
          </a:prstGeom>
          <a:solidFill>
            <a:srgbClr val="1A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6" name="Oval 45"/>
          <p:cNvSpPr/>
          <p:nvPr/>
        </p:nvSpPr>
        <p:spPr>
          <a:xfrm>
            <a:off x="10229029" y="1338786"/>
            <a:ext cx="87502" cy="87502"/>
          </a:xfrm>
          <a:prstGeom prst="ellipse">
            <a:avLst/>
          </a:prstGeom>
          <a:solidFill>
            <a:srgbClr val="1A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cxnSp>
        <p:nvCxnSpPr>
          <p:cNvPr id="47" name="Connector 46"/>
          <p:cNvCxnSpPr/>
          <p:nvPr/>
        </p:nvCxnSpPr>
        <p:spPr>
          <a:xfrm>
            <a:off x="10272780" y="1382537"/>
            <a:ext cx="0" cy="612517"/>
          </a:xfrm>
          <a:prstGeom prst="line">
            <a:avLst/>
          </a:prstGeom>
          <a:ln w="12700">
            <a:solidFill>
              <a:srgbClr val="1A6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Down Arrow 47"/>
          <p:cNvSpPr/>
          <p:nvPr/>
        </p:nvSpPr>
        <p:spPr>
          <a:xfrm>
            <a:off x="10220279" y="1933802"/>
            <a:ext cx="105002" cy="192505"/>
          </a:xfrm>
          <a:prstGeom prst="downArrow">
            <a:avLst/>
          </a:prstGeom>
          <a:solidFill>
            <a:srgbClr val="1A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9" name="Oval 48"/>
          <p:cNvSpPr/>
          <p:nvPr/>
        </p:nvSpPr>
        <p:spPr>
          <a:xfrm>
            <a:off x="11252807" y="1338786"/>
            <a:ext cx="87502" cy="87502"/>
          </a:xfrm>
          <a:prstGeom prst="ellipse">
            <a:avLst/>
          </a:prstGeom>
          <a:solidFill>
            <a:srgbClr val="1A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cxnSp>
        <p:nvCxnSpPr>
          <p:cNvPr id="50" name="Connector 49"/>
          <p:cNvCxnSpPr/>
          <p:nvPr/>
        </p:nvCxnSpPr>
        <p:spPr>
          <a:xfrm>
            <a:off x="11296558" y="1382537"/>
            <a:ext cx="0" cy="612517"/>
          </a:xfrm>
          <a:prstGeom prst="line">
            <a:avLst/>
          </a:prstGeom>
          <a:ln w="12700">
            <a:solidFill>
              <a:srgbClr val="1A6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Down Arrow 50"/>
          <p:cNvSpPr/>
          <p:nvPr/>
        </p:nvSpPr>
        <p:spPr>
          <a:xfrm>
            <a:off x="11244057" y="1933802"/>
            <a:ext cx="105002" cy="192505"/>
          </a:xfrm>
          <a:prstGeom prst="downArrow">
            <a:avLst/>
          </a:prstGeom>
          <a:solidFill>
            <a:srgbClr val="1A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cxnSp>
        <p:nvCxnSpPr>
          <p:cNvPr id="52" name="Connector 51"/>
          <p:cNvCxnSpPr/>
          <p:nvPr/>
        </p:nvCxnSpPr>
        <p:spPr>
          <a:xfrm>
            <a:off x="4742629" y="1382537"/>
            <a:ext cx="5530151" cy="0"/>
          </a:xfrm>
          <a:prstGeom prst="line">
            <a:avLst/>
          </a:prstGeom>
          <a:ln w="21590">
            <a:solidFill>
              <a:srgbClr val="1A65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296558" y="1347536"/>
            <a:ext cx="988777" cy="0"/>
          </a:xfrm>
          <a:prstGeom prst="line">
            <a:avLst/>
          </a:prstGeom>
          <a:ln w="15240">
            <a:solidFill>
              <a:srgbClr val="1A6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268784" y="2887578"/>
            <a:ext cx="1356287" cy="3744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50" b="1">
                <a:solidFill>
                  <a:srgbClr val="111111"/>
                </a:solidFill>
                <a:latin typeface="Microsoft YaHei"/>
              </a:rPr>
              <a:t>移动机器人 / AMR 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46338" y="2887578"/>
            <a:ext cx="1155031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50" b="1">
                <a:solidFill>
                  <a:srgbClr val="111111"/>
                </a:solidFill>
                <a:latin typeface="Microsoft YaHei"/>
              </a:rPr>
              <a:t>机械臂工作站 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41393" y="2887578"/>
            <a:ext cx="1417538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50" b="1">
                <a:solidFill>
                  <a:srgbClr val="111111"/>
                </a:solidFill>
                <a:latin typeface="Microsoft YaHei"/>
              </a:rPr>
              <a:t>移动机器人 / AMR 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58932" y="2887578"/>
            <a:ext cx="111128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50" b="1">
                <a:solidFill>
                  <a:srgbClr val="111111"/>
                </a:solidFill>
                <a:latin typeface="Microsoft YaHei"/>
              </a:rPr>
              <a:t>AGV 运输车 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13982" y="2887578"/>
            <a:ext cx="1155031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50" b="1">
                <a:solidFill>
                  <a:srgbClr val="111111"/>
                </a:solidFill>
                <a:latin typeface="Microsoft YaHei"/>
              </a:rPr>
              <a:t>机械臂工作站 ②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82767" y="2887578"/>
            <a:ext cx="962526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50" b="1">
                <a:solidFill>
                  <a:srgbClr val="111111"/>
                </a:solidFill>
                <a:latin typeface="Microsoft YaHei"/>
              </a:rPr>
              <a:t>边缘服务器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32796" y="2887578"/>
            <a:ext cx="112003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50" b="1">
                <a:solidFill>
                  <a:srgbClr val="111111"/>
                </a:solidFill>
                <a:latin typeface="Microsoft YaHei"/>
              </a:rPr>
              <a:t>生产订单数据库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346587" y="2887578"/>
            <a:ext cx="1312535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50" b="1">
                <a:solidFill>
                  <a:srgbClr val="111111"/>
                </a:solidFill>
                <a:latin typeface="Microsoft YaHei"/>
              </a:rPr>
              <a:t>数字孪生监控屏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9581511" y="2065056"/>
            <a:ext cx="332509" cy="148754"/>
          </a:xfrm>
          <a:prstGeom prst="rightArrow">
            <a:avLst/>
          </a:prstGeom>
          <a:solidFill>
            <a:srgbClr val="1A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3" name="Right Arrow 62"/>
          <p:cNvSpPr/>
          <p:nvPr/>
        </p:nvSpPr>
        <p:spPr>
          <a:xfrm>
            <a:off x="10657791" y="2065056"/>
            <a:ext cx="332509" cy="148754"/>
          </a:xfrm>
          <a:prstGeom prst="rightArrow">
            <a:avLst/>
          </a:prstGeom>
          <a:solidFill>
            <a:srgbClr val="1A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4" name="Right Arrow 63"/>
          <p:cNvSpPr/>
          <p:nvPr/>
        </p:nvSpPr>
        <p:spPr>
          <a:xfrm>
            <a:off x="11795322" y="2065056"/>
            <a:ext cx="332509" cy="148754"/>
          </a:xfrm>
          <a:prstGeom prst="rightArrow">
            <a:avLst/>
          </a:prstGeom>
          <a:solidFill>
            <a:srgbClr val="1A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5" name="Right Arrow 64"/>
          <p:cNvSpPr/>
          <p:nvPr/>
        </p:nvSpPr>
        <p:spPr>
          <a:xfrm>
            <a:off x="14061634" y="2065056"/>
            <a:ext cx="332509" cy="148754"/>
          </a:xfrm>
          <a:prstGeom prst="rightArrow">
            <a:avLst/>
          </a:prstGeom>
          <a:solidFill>
            <a:srgbClr val="1A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6" name="badge_real_time_bg"/>
          <p:cNvSpPr/>
          <p:nvPr/>
        </p:nvSpPr>
        <p:spPr>
          <a:xfrm>
            <a:off x="2537569" y="3255088"/>
            <a:ext cx="2450066" cy="262507"/>
          </a:xfrm>
          <a:prstGeom prst="roundRect">
            <a:avLst/>
          </a:prstGeom>
          <a:solidFill>
            <a:srgbClr val="EA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7" name="badge_real_time"/>
          <p:cNvSpPr txBox="1"/>
          <p:nvPr/>
        </p:nvSpPr>
        <p:spPr>
          <a:xfrm>
            <a:off x="2537569" y="3263986"/>
            <a:ext cx="2450066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0E67C8"/>
                </a:solidFill>
                <a:latin typeface="Microsoft YaHei"/>
              </a:rPr>
              <a:t>实时数据（设备/环境/状态）</a:t>
            </a:r>
          </a:p>
        </p:txBody>
      </p:sp>
      <p:sp>
        <p:nvSpPr>
          <p:cNvPr id="68" name="badge_real_time_arrow"/>
          <p:cNvSpPr/>
          <p:nvPr/>
        </p:nvSpPr>
        <p:spPr>
          <a:xfrm>
            <a:off x="3701351" y="3045083"/>
            <a:ext cx="122503" cy="262507"/>
          </a:xfrm>
          <a:prstGeom prst="downArrow">
            <a:avLst/>
          </a:prstGeom>
          <a:solidFill>
            <a:srgbClr val="0E6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9" name="badge_resource_bg"/>
          <p:cNvSpPr/>
          <p:nvPr/>
        </p:nvSpPr>
        <p:spPr>
          <a:xfrm>
            <a:off x="5687655" y="3255088"/>
            <a:ext cx="2625071" cy="262507"/>
          </a:xfrm>
          <a:prstGeom prst="roundRect">
            <a:avLst/>
          </a:prstGeom>
          <a:solidFill>
            <a:srgbClr val="EA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0" name="badge_resource"/>
          <p:cNvSpPr txBox="1"/>
          <p:nvPr/>
        </p:nvSpPr>
        <p:spPr>
          <a:xfrm>
            <a:off x="5687655" y="3263986"/>
            <a:ext cx="2625071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0E67C8"/>
                </a:solidFill>
                <a:latin typeface="Microsoft YaHei"/>
              </a:rPr>
              <a:t>资源状态（机器人/设备/能耗）</a:t>
            </a:r>
          </a:p>
        </p:txBody>
      </p:sp>
      <p:sp>
        <p:nvSpPr>
          <p:cNvPr id="71" name="badge_resource_arrow"/>
          <p:cNvSpPr/>
          <p:nvPr/>
        </p:nvSpPr>
        <p:spPr>
          <a:xfrm>
            <a:off x="6938939" y="3045083"/>
            <a:ext cx="122503" cy="262507"/>
          </a:xfrm>
          <a:prstGeom prst="downArrow">
            <a:avLst/>
          </a:prstGeom>
          <a:solidFill>
            <a:srgbClr val="0E6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2" name="badge_order_bg"/>
          <p:cNvSpPr/>
          <p:nvPr/>
        </p:nvSpPr>
        <p:spPr>
          <a:xfrm>
            <a:off x="8881492" y="3255088"/>
            <a:ext cx="2493818" cy="262507"/>
          </a:xfrm>
          <a:prstGeom prst="roundRect">
            <a:avLst/>
          </a:prstGeom>
          <a:solidFill>
            <a:srgbClr val="EA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3" name="badge_order"/>
          <p:cNvSpPr txBox="1"/>
          <p:nvPr/>
        </p:nvSpPr>
        <p:spPr>
          <a:xfrm>
            <a:off x="8881492" y="3263986"/>
            <a:ext cx="2493818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0E67C8"/>
                </a:solidFill>
                <a:latin typeface="Microsoft YaHei"/>
              </a:rPr>
              <a:t>订单信息（生产计划/优先级）</a:t>
            </a:r>
          </a:p>
        </p:txBody>
      </p:sp>
      <p:sp>
        <p:nvSpPr>
          <p:cNvPr id="74" name="badge_order_arrow"/>
          <p:cNvSpPr/>
          <p:nvPr/>
        </p:nvSpPr>
        <p:spPr>
          <a:xfrm>
            <a:off x="10067150" y="3045083"/>
            <a:ext cx="122503" cy="262507"/>
          </a:xfrm>
          <a:prstGeom prst="downArrow">
            <a:avLst/>
          </a:prstGeom>
          <a:solidFill>
            <a:srgbClr val="0E6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5" name="Rounded Rectangle 74"/>
          <p:cNvSpPr/>
          <p:nvPr/>
        </p:nvSpPr>
        <p:spPr>
          <a:xfrm>
            <a:off x="1828800" y="3841355"/>
            <a:ext cx="1618794" cy="1723797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6" name="TextBox 75"/>
          <p:cNvSpPr txBox="1"/>
          <p:nvPr/>
        </p:nvSpPr>
        <p:spPr>
          <a:xfrm>
            <a:off x="1898801" y="3920107"/>
            <a:ext cx="147879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067A82"/>
                </a:solidFill>
                <a:latin typeface="Microsoft YaHei"/>
              </a:rPr>
              <a:t>订单需求 / 任务池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60072" y="4410120"/>
            <a:ext cx="752520" cy="85921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· 生产订单</a:t>
            </a:r>
          </a:p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· 任务队列</a:t>
            </a:r>
          </a:p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· 优先级/交期</a:t>
            </a:r>
          </a:p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· 物料需求</a:t>
            </a:r>
          </a:p>
        </p:txBody>
      </p:sp>
      <p:sp>
        <p:nvSpPr>
          <p:cNvPr id="78" name="arrow_order_to_scheduler"/>
          <p:cNvSpPr/>
          <p:nvPr/>
        </p:nvSpPr>
        <p:spPr>
          <a:xfrm>
            <a:off x="3491345" y="4602625"/>
            <a:ext cx="498763" cy="245006"/>
          </a:xfrm>
          <a:prstGeom prst="rightArrow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9" name="scheduler_boundary"/>
          <p:cNvSpPr/>
          <p:nvPr/>
        </p:nvSpPr>
        <p:spPr>
          <a:xfrm>
            <a:off x="4051360" y="3718851"/>
            <a:ext cx="6545178" cy="1951303"/>
          </a:xfrm>
          <a:prstGeom prst="roundRect">
            <a:avLst/>
          </a:prstGeom>
          <a:noFill/>
          <a:ln w="1270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0" name="Rounded Rectangle 79"/>
          <p:cNvSpPr/>
          <p:nvPr/>
        </p:nvSpPr>
        <p:spPr>
          <a:xfrm>
            <a:off x="4313867" y="3815104"/>
            <a:ext cx="1268784" cy="498763"/>
          </a:xfrm>
          <a:prstGeom prst="roundRect">
            <a:avLst/>
          </a:prstGeom>
          <a:solidFill>
            <a:srgbClr val="F2FFFF"/>
          </a:solidFill>
          <a:ln w="1270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1" name="TextBox 80"/>
          <p:cNvSpPr txBox="1"/>
          <p:nvPr/>
        </p:nvSpPr>
        <p:spPr>
          <a:xfrm>
            <a:off x="4777630" y="3955108"/>
            <a:ext cx="665018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067A82"/>
                </a:solidFill>
                <a:latin typeface="Microsoft YaHei"/>
              </a:rPr>
              <a:t>任务分配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313867" y="4445121"/>
            <a:ext cx="1268784" cy="498763"/>
          </a:xfrm>
          <a:prstGeom prst="roundRect">
            <a:avLst/>
          </a:prstGeom>
          <a:solidFill>
            <a:srgbClr val="F2FFFF"/>
          </a:solidFill>
          <a:ln w="1270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3" name="TextBox 82"/>
          <p:cNvSpPr txBox="1"/>
          <p:nvPr/>
        </p:nvSpPr>
        <p:spPr>
          <a:xfrm>
            <a:off x="4777630" y="4585125"/>
            <a:ext cx="665018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067A82"/>
                </a:solidFill>
                <a:latin typeface="Microsoft YaHei"/>
              </a:rPr>
              <a:t>资源优化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313867" y="5092639"/>
            <a:ext cx="1268784" cy="498763"/>
          </a:xfrm>
          <a:prstGeom prst="roundRect">
            <a:avLst/>
          </a:prstGeom>
          <a:solidFill>
            <a:srgbClr val="F2FFFF"/>
          </a:solidFill>
          <a:ln w="1270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5" name="TextBox 84"/>
          <p:cNvSpPr txBox="1"/>
          <p:nvPr/>
        </p:nvSpPr>
        <p:spPr>
          <a:xfrm>
            <a:off x="4777630" y="5232643"/>
            <a:ext cx="665018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067A82"/>
                </a:solidFill>
                <a:latin typeface="Microsoft YaHei"/>
              </a:rPr>
              <a:t>能耗优化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020164" y="3718851"/>
            <a:ext cx="2423816" cy="428761"/>
          </a:xfrm>
          <a:prstGeom prst="roundRect">
            <a:avLst/>
          </a:prstGeom>
          <a:solidFill>
            <a:srgbClr val="F2FFFF"/>
          </a:solidFill>
          <a:ln w="1270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7" name="TextBox 86"/>
          <p:cNvSpPr txBox="1"/>
          <p:nvPr/>
        </p:nvSpPr>
        <p:spPr>
          <a:xfrm>
            <a:off x="6755184" y="3832604"/>
            <a:ext cx="148754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067A82"/>
                </a:solidFill>
                <a:latin typeface="Microsoft YaHei"/>
              </a:rPr>
              <a:t>约束管理（时序/设备/路径）</a:t>
            </a:r>
          </a:p>
        </p:txBody>
      </p:sp>
      <p:sp>
        <p:nvSpPr>
          <p:cNvPr id="88" name="rl_scheduler_core"/>
          <p:cNvSpPr/>
          <p:nvPr/>
        </p:nvSpPr>
        <p:spPr>
          <a:xfrm>
            <a:off x="6300172" y="4235115"/>
            <a:ext cx="2082556" cy="1015027"/>
          </a:xfrm>
          <a:prstGeom prst="roundRect">
            <a:avLst/>
          </a:prstGeom>
          <a:solidFill>
            <a:srgbClr val="11B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9" name="TextBox 88"/>
          <p:cNvSpPr txBox="1"/>
          <p:nvPr/>
        </p:nvSpPr>
        <p:spPr>
          <a:xfrm>
            <a:off x="6553929" y="4926380"/>
            <a:ext cx="1583793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强化学习调度器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300172" y="5355146"/>
            <a:ext cx="2082556" cy="358759"/>
          </a:xfrm>
          <a:prstGeom prst="roundRect">
            <a:avLst/>
          </a:prstGeom>
          <a:solidFill>
            <a:srgbClr val="F2FFFF"/>
          </a:solidFill>
          <a:ln w="1270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1" name="TextBox 90"/>
          <p:cNvSpPr txBox="1"/>
          <p:nvPr/>
        </p:nvSpPr>
        <p:spPr>
          <a:xfrm>
            <a:off x="6833936" y="5442648"/>
            <a:ext cx="1155031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067A82"/>
                </a:solidFill>
                <a:latin typeface="Microsoft YaHei"/>
              </a:rPr>
              <a:t>调度策略更新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021496" y="3823854"/>
            <a:ext cx="1303785" cy="490013"/>
          </a:xfrm>
          <a:prstGeom prst="roundRect">
            <a:avLst/>
          </a:prstGeom>
          <a:solidFill>
            <a:srgbClr val="F2FFFF"/>
          </a:solidFill>
          <a:ln w="1270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3" name="TextBox 92"/>
          <p:cNvSpPr txBox="1"/>
          <p:nvPr/>
        </p:nvSpPr>
        <p:spPr>
          <a:xfrm>
            <a:off x="9537760" y="3972608"/>
            <a:ext cx="682518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067A82"/>
                </a:solidFill>
                <a:latin typeface="Microsoft YaHei"/>
              </a:rPr>
              <a:t>异常检测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021496" y="4462622"/>
            <a:ext cx="1303785" cy="490013"/>
          </a:xfrm>
          <a:prstGeom prst="roundRect">
            <a:avLst/>
          </a:prstGeom>
          <a:solidFill>
            <a:srgbClr val="F2FFFF"/>
          </a:solidFill>
          <a:ln w="1270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5" name="TextBox 94"/>
          <p:cNvSpPr txBox="1"/>
          <p:nvPr/>
        </p:nvSpPr>
        <p:spPr>
          <a:xfrm>
            <a:off x="9537760" y="4611376"/>
            <a:ext cx="682518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067A82"/>
                </a:solidFill>
                <a:latin typeface="Microsoft YaHei"/>
              </a:rPr>
              <a:t>多机器人协同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021496" y="5101389"/>
            <a:ext cx="1303785" cy="490013"/>
          </a:xfrm>
          <a:prstGeom prst="roundRect">
            <a:avLst/>
          </a:prstGeom>
          <a:solidFill>
            <a:srgbClr val="F2FFFF"/>
          </a:solidFill>
          <a:ln w="1270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7" name="TextBox 96"/>
          <p:cNvSpPr txBox="1"/>
          <p:nvPr/>
        </p:nvSpPr>
        <p:spPr>
          <a:xfrm>
            <a:off x="9537760" y="5250143"/>
            <a:ext cx="682518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067A82"/>
                </a:solidFill>
                <a:latin typeface="Microsoft YaHei"/>
              </a:rPr>
              <a:t>状态评估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5582652" y="3963858"/>
            <a:ext cx="717520" cy="0"/>
          </a:xfrm>
          <a:prstGeom prst="line">
            <a:avLst/>
          </a:prstGeom>
          <a:ln w="12700">
            <a:solidFill>
              <a:srgbClr val="067A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382729" y="3963858"/>
            <a:ext cx="630017" cy="0"/>
          </a:xfrm>
          <a:prstGeom prst="line">
            <a:avLst/>
          </a:prstGeom>
          <a:ln w="12700">
            <a:solidFill>
              <a:srgbClr val="067A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5582652" y="4576375"/>
            <a:ext cx="717520" cy="0"/>
          </a:xfrm>
          <a:prstGeom prst="line">
            <a:avLst/>
          </a:prstGeom>
          <a:ln w="12700">
            <a:solidFill>
              <a:srgbClr val="067A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8382729" y="4576375"/>
            <a:ext cx="630017" cy="0"/>
          </a:xfrm>
          <a:prstGeom prst="line">
            <a:avLst/>
          </a:prstGeom>
          <a:ln w="12700">
            <a:solidFill>
              <a:srgbClr val="067A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5582652" y="5293894"/>
            <a:ext cx="717520" cy="0"/>
          </a:xfrm>
          <a:prstGeom prst="line">
            <a:avLst/>
          </a:prstGeom>
          <a:ln w="12700">
            <a:solidFill>
              <a:srgbClr val="067A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382729" y="5293894"/>
            <a:ext cx="630017" cy="0"/>
          </a:xfrm>
          <a:prstGeom prst="line">
            <a:avLst/>
          </a:prstGeom>
          <a:ln w="12700">
            <a:solidFill>
              <a:srgbClr val="067A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350200" y="4147613"/>
            <a:ext cx="0" cy="87502"/>
          </a:xfrm>
          <a:prstGeom prst="line">
            <a:avLst/>
          </a:prstGeom>
          <a:ln w="25400">
            <a:solidFill>
              <a:srgbClr val="067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350200" y="5250143"/>
            <a:ext cx="0" cy="105003"/>
          </a:xfrm>
          <a:prstGeom prst="line">
            <a:avLst/>
          </a:prstGeom>
          <a:ln w="25400">
            <a:solidFill>
              <a:srgbClr val="067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ight Arrow 105"/>
          <p:cNvSpPr/>
          <p:nvPr/>
        </p:nvSpPr>
        <p:spPr>
          <a:xfrm>
            <a:off x="10395284" y="4593875"/>
            <a:ext cx="525014" cy="236256"/>
          </a:xfrm>
          <a:prstGeom prst="rightArrow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7" name="Rounded Rectangle 106"/>
          <p:cNvSpPr/>
          <p:nvPr/>
        </p:nvSpPr>
        <p:spPr>
          <a:xfrm>
            <a:off x="11217806" y="3788853"/>
            <a:ext cx="2100057" cy="1785048"/>
          </a:xfrm>
          <a:prstGeom prst="roundRect">
            <a:avLst/>
          </a:prstGeom>
          <a:solidFill>
            <a:srgbClr val="F7FFFF"/>
          </a:solidFill>
          <a:ln w="1270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8" name="TextBox 107"/>
          <p:cNvSpPr txBox="1"/>
          <p:nvPr/>
        </p:nvSpPr>
        <p:spPr>
          <a:xfrm>
            <a:off x="11786572" y="3850105"/>
            <a:ext cx="962526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>
                <a:solidFill>
                  <a:srgbClr val="067A82"/>
                </a:solidFill>
                <a:latin typeface="Microsoft YaHei"/>
              </a:rPr>
              <a:t>资源池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1287808" y="4112612"/>
            <a:ext cx="1960053" cy="752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0" name="TextBox 109"/>
          <p:cNvSpPr txBox="1"/>
          <p:nvPr/>
        </p:nvSpPr>
        <p:spPr>
          <a:xfrm>
            <a:off x="11795322" y="4165113"/>
            <a:ext cx="962526" cy="2205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1">
                <a:solidFill>
                  <a:srgbClr val="0B2A67"/>
                </a:solidFill>
                <a:latin typeface="Microsoft YaHei"/>
              </a:rPr>
              <a:t>机器人资源池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742821" y="4681377"/>
            <a:ext cx="350009" cy="15901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700" b="0">
                <a:solidFill>
                  <a:srgbClr val="111111"/>
                </a:solidFill>
                <a:latin typeface="Microsoft YaHei"/>
              </a:rPr>
              <a:t>AGV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2985355" y="4418870"/>
            <a:ext cx="192505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111111"/>
                </a:solidFill>
                <a:latin typeface="Microsoft YaHei"/>
              </a:rPr>
              <a:t>…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1287808" y="4917634"/>
            <a:ext cx="1960053" cy="5600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4" name="TextBox 113"/>
          <p:cNvSpPr txBox="1"/>
          <p:nvPr/>
        </p:nvSpPr>
        <p:spPr>
          <a:xfrm>
            <a:off x="11795322" y="4952635"/>
            <a:ext cx="962526" cy="2205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1">
                <a:solidFill>
                  <a:srgbClr val="0B2A67"/>
                </a:solidFill>
                <a:latin typeface="Microsoft YaHei"/>
              </a:rPr>
              <a:t>设备资源池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985355" y="5145140"/>
            <a:ext cx="192505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111111"/>
                </a:solidFill>
                <a:latin typeface="Microsoft YaHei"/>
              </a:rPr>
              <a:t>…</a:t>
            </a:r>
          </a:p>
        </p:txBody>
      </p:sp>
      <p:sp>
        <p:nvSpPr>
          <p:cNvPr id="116" name="badge_strategy_bg"/>
          <p:cNvSpPr/>
          <p:nvPr/>
        </p:nvSpPr>
        <p:spPr>
          <a:xfrm>
            <a:off x="3456344" y="5915161"/>
            <a:ext cx="1662545" cy="262507"/>
          </a:xfrm>
          <a:prstGeom prst="roundRect">
            <a:avLst/>
          </a:prstGeom>
          <a:solidFill>
            <a:srgbClr val="EA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7" name="badge_strategy"/>
          <p:cNvSpPr txBox="1"/>
          <p:nvPr/>
        </p:nvSpPr>
        <p:spPr>
          <a:xfrm>
            <a:off x="3456344" y="5924059"/>
            <a:ext cx="1662545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067A82"/>
                </a:solidFill>
                <a:latin typeface="Microsoft YaHei"/>
              </a:rPr>
              <a:t>优化结果 / 调度策略</a:t>
            </a:r>
          </a:p>
        </p:txBody>
      </p:sp>
      <p:sp>
        <p:nvSpPr>
          <p:cNvPr id="118" name="badge_strategy_arrow"/>
          <p:cNvSpPr/>
          <p:nvPr/>
        </p:nvSpPr>
        <p:spPr>
          <a:xfrm>
            <a:off x="4226365" y="5705155"/>
            <a:ext cx="122503" cy="262507"/>
          </a:xfrm>
          <a:prstGeom prst="downArrow">
            <a:avLst/>
          </a:prstGeom>
          <a:solidFill>
            <a:srgbClr val="06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9" name="badge_plan_bg"/>
          <p:cNvSpPr/>
          <p:nvPr/>
        </p:nvSpPr>
        <p:spPr>
          <a:xfrm>
            <a:off x="6098916" y="5915161"/>
            <a:ext cx="1925052" cy="262507"/>
          </a:xfrm>
          <a:prstGeom prst="roundRect">
            <a:avLst/>
          </a:prstGeom>
          <a:solidFill>
            <a:srgbClr val="EA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0" name="badge_plan"/>
          <p:cNvSpPr txBox="1"/>
          <p:nvPr/>
        </p:nvSpPr>
        <p:spPr>
          <a:xfrm>
            <a:off x="6098916" y="5924059"/>
            <a:ext cx="1925052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067A82"/>
                </a:solidFill>
                <a:latin typeface="Microsoft YaHei"/>
              </a:rPr>
              <a:t>控制指令 / 执行计划</a:t>
            </a:r>
          </a:p>
        </p:txBody>
      </p:sp>
      <p:sp>
        <p:nvSpPr>
          <p:cNvPr id="121" name="badge_plan_arrow"/>
          <p:cNvSpPr/>
          <p:nvPr/>
        </p:nvSpPr>
        <p:spPr>
          <a:xfrm>
            <a:off x="7000191" y="5705155"/>
            <a:ext cx="122503" cy="262507"/>
          </a:xfrm>
          <a:prstGeom prst="downArrow">
            <a:avLst/>
          </a:prstGeom>
          <a:solidFill>
            <a:srgbClr val="06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2" name="badge_feedback_bg"/>
          <p:cNvSpPr/>
          <p:nvPr/>
        </p:nvSpPr>
        <p:spPr>
          <a:xfrm>
            <a:off x="8881492" y="5915161"/>
            <a:ext cx="2187559" cy="262507"/>
          </a:xfrm>
          <a:prstGeom prst="roundRect">
            <a:avLst/>
          </a:prstGeom>
          <a:solidFill>
            <a:srgbClr val="EA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3" name="badge_feedback"/>
          <p:cNvSpPr txBox="1"/>
          <p:nvPr/>
        </p:nvSpPr>
        <p:spPr>
          <a:xfrm>
            <a:off x="8881492" y="5924059"/>
            <a:ext cx="2187559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067A82"/>
                </a:solidFill>
                <a:latin typeface="Microsoft YaHei"/>
              </a:rPr>
              <a:t>反馈数据（执行结果/KPI）</a:t>
            </a:r>
          </a:p>
        </p:txBody>
      </p:sp>
      <p:sp>
        <p:nvSpPr>
          <p:cNvPr id="124" name="badge_feedback_arrow"/>
          <p:cNvSpPr/>
          <p:nvPr/>
        </p:nvSpPr>
        <p:spPr>
          <a:xfrm>
            <a:off x="9914021" y="5705155"/>
            <a:ext cx="122503" cy="262507"/>
          </a:xfrm>
          <a:prstGeom prst="downArrow">
            <a:avLst/>
          </a:prstGeom>
          <a:solidFill>
            <a:srgbClr val="06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5" name="Rounded Rectangle 124"/>
          <p:cNvSpPr/>
          <p:nvPr/>
        </p:nvSpPr>
        <p:spPr>
          <a:xfrm>
            <a:off x="1373787" y="6413925"/>
            <a:ext cx="1601293" cy="1356287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6" name="TextBox 125"/>
          <p:cNvSpPr txBox="1"/>
          <p:nvPr/>
        </p:nvSpPr>
        <p:spPr>
          <a:xfrm>
            <a:off x="1443789" y="6492677"/>
            <a:ext cx="1461289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FF7A1A"/>
                </a:solidFill>
                <a:latin typeface="Microsoft YaHei"/>
              </a:rPr>
              <a:t>调度决策输出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443789" y="7499253"/>
            <a:ext cx="1461289" cy="17440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>
                <a:solidFill>
                  <a:srgbClr val="111111"/>
                </a:solidFill>
                <a:latin typeface="Microsoft YaHei"/>
              </a:rPr>
              <a:t>最优任务—资源—时间方案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115085" y="6413925"/>
            <a:ext cx="1347536" cy="1356287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9" name="TextBox 128"/>
          <p:cNvSpPr txBox="1"/>
          <p:nvPr/>
        </p:nvSpPr>
        <p:spPr>
          <a:xfrm>
            <a:off x="3185087" y="6492677"/>
            <a:ext cx="1207533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FF7A1A"/>
                </a:solidFill>
                <a:latin typeface="Microsoft YaHei"/>
              </a:rPr>
              <a:t>任务执行指令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185087" y="7437698"/>
            <a:ext cx="1207533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>
                <a:solidFill>
                  <a:srgbClr val="111111"/>
                </a:solidFill>
                <a:latin typeface="Microsoft YaHei"/>
              </a:rPr>
              <a:t>下发控制指令</a:t>
            </a:r>
          </a:p>
          <a:p>
            <a:pPr algn="ctr"/>
            <a:r>
              <a:rPr sz="800" b="0">
                <a:solidFill>
                  <a:srgbClr val="111111"/>
                </a:solidFill>
                <a:latin typeface="Microsoft YaHei"/>
              </a:rPr>
              <a:t>监控执行进度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602625" y="6413925"/>
            <a:ext cx="1435039" cy="1356287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2" name="TextBox 131"/>
          <p:cNvSpPr txBox="1"/>
          <p:nvPr/>
        </p:nvSpPr>
        <p:spPr>
          <a:xfrm>
            <a:off x="4672627" y="6492677"/>
            <a:ext cx="1295035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FF7A1A"/>
                </a:solidFill>
                <a:latin typeface="Microsoft YaHei"/>
              </a:rPr>
              <a:t>路径与工位分配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672627" y="7437698"/>
            <a:ext cx="1295035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>
                <a:solidFill>
                  <a:srgbClr val="111111"/>
                </a:solidFill>
                <a:latin typeface="Microsoft YaHei"/>
              </a:rPr>
              <a:t>最优路径规划</a:t>
            </a:r>
          </a:p>
          <a:p>
            <a:pPr algn="ctr"/>
            <a:r>
              <a:rPr sz="800" b="0">
                <a:solidFill>
                  <a:srgbClr val="111111"/>
                </a:solidFill>
                <a:latin typeface="Microsoft YaHei"/>
              </a:rPr>
              <a:t>工位动态分配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168918" y="6413925"/>
            <a:ext cx="1286285" cy="1356287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5" name="TextBox 134"/>
          <p:cNvSpPr txBox="1"/>
          <p:nvPr/>
        </p:nvSpPr>
        <p:spPr>
          <a:xfrm>
            <a:off x="6238920" y="6492677"/>
            <a:ext cx="1146281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FF7A1A"/>
                </a:solidFill>
                <a:latin typeface="Microsoft YaHei"/>
              </a:rPr>
              <a:t>维护预警 /</a:t>
            </a:r>
          </a:p>
          <a:p>
            <a:pPr algn="ctr"/>
            <a:r>
              <a:rPr sz="1200" b="1">
                <a:solidFill>
                  <a:srgbClr val="FF7A1A"/>
                </a:solidFill>
                <a:latin typeface="Microsoft YaHei"/>
              </a:rPr>
              <a:t>异常告警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238920" y="7437698"/>
            <a:ext cx="1146281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>
                <a:solidFill>
                  <a:srgbClr val="111111"/>
                </a:solidFill>
                <a:latin typeface="Microsoft YaHei"/>
              </a:rPr>
              <a:t>预测性维护</a:t>
            </a:r>
          </a:p>
          <a:p>
            <a:pPr algn="ctr"/>
            <a:r>
              <a:rPr sz="800" b="0">
                <a:solidFill>
                  <a:srgbClr val="111111"/>
                </a:solidFill>
                <a:latin typeface="Microsoft YaHei"/>
              </a:rPr>
              <a:t>异常实时分配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7595207" y="6413925"/>
            <a:ext cx="1155031" cy="1356287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8" name="TextBox 137"/>
          <p:cNvSpPr txBox="1"/>
          <p:nvPr/>
        </p:nvSpPr>
        <p:spPr>
          <a:xfrm>
            <a:off x="7665209" y="6492677"/>
            <a:ext cx="1015027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FF7A1A"/>
                </a:solidFill>
                <a:latin typeface="Microsoft YaHei"/>
              </a:rPr>
              <a:t>能耗控制策略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665209" y="7437698"/>
            <a:ext cx="1015027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>
                <a:solidFill>
                  <a:srgbClr val="111111"/>
                </a:solidFill>
                <a:latin typeface="Microsoft YaHei"/>
              </a:rPr>
              <a:t>节能优化策略</a:t>
            </a:r>
          </a:p>
          <a:p>
            <a:pPr algn="ctr"/>
            <a:r>
              <a:rPr sz="800" b="0">
                <a:solidFill>
                  <a:srgbClr val="111111"/>
                </a:solidFill>
                <a:latin typeface="Microsoft YaHei"/>
              </a:rPr>
              <a:t>动态能耗调控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8811490" y="6370174"/>
            <a:ext cx="5433898" cy="14087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1" name="Rectangle 140"/>
          <p:cNvSpPr/>
          <p:nvPr/>
        </p:nvSpPr>
        <p:spPr>
          <a:xfrm>
            <a:off x="8811490" y="6370174"/>
            <a:ext cx="5433898" cy="245006"/>
          </a:xfrm>
          <a:prstGeom prst="rect">
            <a:avLst/>
          </a:prstGeom>
          <a:solidFill>
            <a:srgbClr val="F59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2" name="TextBox 141"/>
          <p:cNvSpPr txBox="1"/>
          <p:nvPr/>
        </p:nvSpPr>
        <p:spPr>
          <a:xfrm>
            <a:off x="10850296" y="6396424"/>
            <a:ext cx="1356287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KPI 看板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8942744" y="6685182"/>
            <a:ext cx="918775" cy="9712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4" name="TextBox 143"/>
          <p:cNvSpPr txBox="1"/>
          <p:nvPr/>
        </p:nvSpPr>
        <p:spPr>
          <a:xfrm>
            <a:off x="8968995" y="6737684"/>
            <a:ext cx="866273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1">
                <a:solidFill>
                  <a:srgbClr val="12345B"/>
                </a:solidFill>
                <a:latin typeface="Microsoft YaHei"/>
              </a:rPr>
              <a:t>任务完成率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003996" y="6956440"/>
            <a:ext cx="708769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>
                <a:solidFill>
                  <a:srgbClr val="12345B"/>
                </a:solidFill>
                <a:latin typeface="Microsoft YaHei"/>
              </a:rPr>
              <a:t>92.6%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669014" y="6982690"/>
            <a:ext cx="140003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1">
                <a:solidFill>
                  <a:srgbClr val="1CAF48"/>
                </a:solidFill>
                <a:latin typeface="Microsoft YaHei"/>
              </a:rPr>
              <a:t>↑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9957772" y="6685182"/>
            <a:ext cx="918775" cy="9712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8" name="TextBox 147"/>
          <p:cNvSpPr txBox="1"/>
          <p:nvPr/>
        </p:nvSpPr>
        <p:spPr>
          <a:xfrm>
            <a:off x="9984022" y="6737684"/>
            <a:ext cx="866273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1">
                <a:solidFill>
                  <a:srgbClr val="12345B"/>
                </a:solidFill>
                <a:latin typeface="Microsoft YaHei"/>
              </a:rPr>
              <a:t>设备利用率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019023" y="6956440"/>
            <a:ext cx="708769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>
                <a:solidFill>
                  <a:srgbClr val="12345B"/>
                </a:solidFill>
                <a:latin typeface="Microsoft YaHei"/>
              </a:rPr>
              <a:t>85.4%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684042" y="6982690"/>
            <a:ext cx="140003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1">
                <a:solidFill>
                  <a:srgbClr val="1CAF48"/>
                </a:solidFill>
                <a:latin typeface="Microsoft YaHei"/>
              </a:rPr>
              <a:t>↑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0972800" y="6685182"/>
            <a:ext cx="918775" cy="9712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2" name="TextBox 151"/>
          <p:cNvSpPr txBox="1"/>
          <p:nvPr/>
        </p:nvSpPr>
        <p:spPr>
          <a:xfrm>
            <a:off x="10999050" y="6737684"/>
            <a:ext cx="866273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1">
                <a:solidFill>
                  <a:srgbClr val="12345B"/>
                </a:solidFill>
                <a:latin typeface="Microsoft YaHei"/>
              </a:rPr>
              <a:t>平均响应时间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1034051" y="6956440"/>
            <a:ext cx="708769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>
                <a:solidFill>
                  <a:srgbClr val="12345B"/>
                </a:solidFill>
                <a:latin typeface="Microsoft YaHei"/>
              </a:rPr>
              <a:t>128 ms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1987827" y="6685182"/>
            <a:ext cx="918775" cy="9712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5" name="TextBox 154"/>
          <p:cNvSpPr txBox="1"/>
          <p:nvPr/>
        </p:nvSpPr>
        <p:spPr>
          <a:xfrm>
            <a:off x="12014078" y="6737684"/>
            <a:ext cx="866273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1">
                <a:solidFill>
                  <a:srgbClr val="12345B"/>
                </a:solidFill>
                <a:latin typeface="Microsoft YaHei"/>
              </a:rPr>
              <a:t>能耗下降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2049079" y="6956440"/>
            <a:ext cx="708769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>
                <a:solidFill>
                  <a:srgbClr val="12345B"/>
                </a:solidFill>
                <a:latin typeface="Microsoft YaHei"/>
              </a:rPr>
              <a:t>18.7%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2714097" y="6982690"/>
            <a:ext cx="140003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1">
                <a:solidFill>
                  <a:srgbClr val="1CAF48"/>
                </a:solidFill>
                <a:latin typeface="Microsoft YaHei"/>
              </a:rPr>
              <a:t>↓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3002855" y="6685182"/>
            <a:ext cx="918775" cy="9712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9" name="TextBox 158"/>
          <p:cNvSpPr txBox="1"/>
          <p:nvPr/>
        </p:nvSpPr>
        <p:spPr>
          <a:xfrm>
            <a:off x="13029106" y="6737684"/>
            <a:ext cx="866273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1">
                <a:solidFill>
                  <a:srgbClr val="12345B"/>
                </a:solidFill>
                <a:latin typeface="Microsoft YaHei"/>
              </a:rPr>
              <a:t>异常率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3064107" y="6956440"/>
            <a:ext cx="708769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>
                <a:solidFill>
                  <a:srgbClr val="12345B"/>
                </a:solidFill>
                <a:latin typeface="Microsoft YaHei"/>
              </a:rPr>
              <a:t>2.1%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3729125" y="6982690"/>
            <a:ext cx="140003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1">
                <a:solidFill>
                  <a:srgbClr val="1CAF48"/>
                </a:solidFill>
                <a:latin typeface="Microsoft YaHei"/>
              </a:rPr>
              <a:t>↓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2056306" y="7918966"/>
            <a:ext cx="11944076" cy="0"/>
          </a:xfrm>
          <a:prstGeom prst="line">
            <a:avLst/>
          </a:prstGeom>
          <a:ln w="16510">
            <a:solidFill>
              <a:srgbClr val="FF7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Up Arrow 162"/>
          <p:cNvSpPr/>
          <p:nvPr/>
        </p:nvSpPr>
        <p:spPr>
          <a:xfrm>
            <a:off x="2012555" y="7892715"/>
            <a:ext cx="148754" cy="236256"/>
          </a:xfrm>
          <a:prstGeom prst="upArrow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4" name="TextBox 163"/>
          <p:cNvSpPr txBox="1"/>
          <p:nvPr/>
        </p:nvSpPr>
        <p:spPr>
          <a:xfrm>
            <a:off x="5337645" y="7988968"/>
            <a:ext cx="3937607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>
                <a:solidFill>
                  <a:srgbClr val="FF7A1A"/>
                </a:solidFill>
                <a:latin typeface="Microsoft YaHei"/>
              </a:rPr>
              <a:t>执行反馈 / KPI 反馈 / 持续优化</a:t>
            </a:r>
          </a:p>
        </p:txBody>
      </p:sp>
      <p:pic>
        <p:nvPicPr>
          <p:cNvPr id="165" name="scene_layer_icon" descr="scene_fa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08" y="1559987"/>
            <a:ext cx="542514" cy="502624"/>
          </a:xfrm>
          <a:prstGeom prst="rect">
            <a:avLst/>
          </a:prstGeom>
        </p:spPr>
      </p:pic>
      <p:pic>
        <p:nvPicPr>
          <p:cNvPr id="166" name="sensor_icon" descr="sensor_da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0474" y="1225033"/>
            <a:ext cx="215436" cy="367510"/>
          </a:xfrm>
          <a:prstGeom prst="rect">
            <a:avLst/>
          </a:prstGeom>
        </p:spPr>
      </p:pic>
      <p:pic>
        <p:nvPicPr>
          <p:cNvPr id="167" name="status_icon" descr="equipment_stat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4540" y="1233783"/>
            <a:ext cx="393605" cy="367510"/>
          </a:xfrm>
          <a:prstGeom prst="rect">
            <a:avLst/>
          </a:prstGeom>
        </p:spPr>
      </p:pic>
      <p:pic>
        <p:nvPicPr>
          <p:cNvPr id="168" name="environment_icon" descr="environment_inf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1145" y="1225033"/>
            <a:ext cx="325445" cy="367510"/>
          </a:xfrm>
          <a:prstGeom prst="rect">
            <a:avLst/>
          </a:prstGeom>
        </p:spPr>
      </p:pic>
      <p:pic>
        <p:nvPicPr>
          <p:cNvPr id="169" name="amr_1" descr="am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7340" y="2152558"/>
            <a:ext cx="795427" cy="647517"/>
          </a:xfrm>
          <a:prstGeom prst="rect">
            <a:avLst/>
          </a:prstGeom>
        </p:spPr>
      </p:pic>
      <p:pic>
        <p:nvPicPr>
          <p:cNvPr id="170" name="robot_arm_1" descr="robot_ar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6963" y="1916302"/>
            <a:ext cx="998777" cy="822522"/>
          </a:xfrm>
          <a:prstGeom prst="rect">
            <a:avLst/>
          </a:prstGeom>
        </p:spPr>
      </p:pic>
      <p:pic>
        <p:nvPicPr>
          <p:cNvPr id="171" name="amr_2" descr="am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1198" y="2161309"/>
            <a:ext cx="795427" cy="647517"/>
          </a:xfrm>
          <a:prstGeom prst="rect">
            <a:avLst/>
          </a:prstGeom>
        </p:spPr>
      </p:pic>
      <p:pic>
        <p:nvPicPr>
          <p:cNvPr id="172" name="agv_1" descr="agv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50648" y="2187559"/>
            <a:ext cx="971598" cy="638767"/>
          </a:xfrm>
          <a:prstGeom prst="rect">
            <a:avLst/>
          </a:prstGeom>
        </p:spPr>
      </p:pic>
      <p:pic>
        <p:nvPicPr>
          <p:cNvPr id="173" name="robot_arm_2" descr="robot_ar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2111" y="1907552"/>
            <a:ext cx="998777" cy="822522"/>
          </a:xfrm>
          <a:prstGeom prst="rect">
            <a:avLst/>
          </a:prstGeom>
        </p:spPr>
      </p:pic>
      <p:pic>
        <p:nvPicPr>
          <p:cNvPr id="174" name="server_1" descr="serv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70269" y="1687164"/>
            <a:ext cx="770021" cy="1053293"/>
          </a:xfrm>
          <a:prstGeom prst="rect">
            <a:avLst/>
          </a:prstGeom>
        </p:spPr>
      </p:pic>
      <p:pic>
        <p:nvPicPr>
          <p:cNvPr id="175" name="database_1" descr="databas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85489" y="1802549"/>
            <a:ext cx="718390" cy="980026"/>
          </a:xfrm>
          <a:prstGeom prst="rect">
            <a:avLst/>
          </a:prstGeom>
        </p:spPr>
      </p:pic>
      <p:pic>
        <p:nvPicPr>
          <p:cNvPr id="176" name="twin_screen_1" descr="twin_scree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82824" y="1411572"/>
            <a:ext cx="2170059" cy="1298217"/>
          </a:xfrm>
          <a:prstGeom prst="rect">
            <a:avLst/>
          </a:prstGeom>
        </p:spPr>
      </p:pic>
      <p:pic>
        <p:nvPicPr>
          <p:cNvPr id="177" name="algorithm_layer_icon" descr="algorithm_chi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5008" y="4388374"/>
            <a:ext cx="560015" cy="533505"/>
          </a:xfrm>
          <a:prstGeom prst="rect">
            <a:avLst/>
          </a:prstGeom>
        </p:spPr>
      </p:pic>
      <p:pic>
        <p:nvPicPr>
          <p:cNvPr id="178" name="order_clipboard" descr="clipboar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68841" y="4305117"/>
            <a:ext cx="594941" cy="752520"/>
          </a:xfrm>
          <a:prstGeom prst="rect">
            <a:avLst/>
          </a:prstGeom>
        </p:spPr>
      </p:pic>
      <p:pic>
        <p:nvPicPr>
          <p:cNvPr id="179" name="task_assign_icon" descr="task_assign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70308" y="3858855"/>
            <a:ext cx="247133" cy="315008"/>
          </a:xfrm>
          <a:prstGeom prst="rect">
            <a:avLst/>
          </a:prstGeom>
        </p:spPr>
      </p:pic>
      <p:pic>
        <p:nvPicPr>
          <p:cNvPr id="180" name="resource_icon" descr="resource_cub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62493" y="4541374"/>
            <a:ext cx="262763" cy="332509"/>
          </a:xfrm>
          <a:prstGeom prst="rect">
            <a:avLst/>
          </a:prstGeom>
        </p:spPr>
      </p:pic>
      <p:pic>
        <p:nvPicPr>
          <p:cNvPr id="181" name="energy_icon" descr="energy_drople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11402" y="5180141"/>
            <a:ext cx="164945" cy="332509"/>
          </a:xfrm>
          <a:prstGeom prst="rect">
            <a:avLst/>
          </a:prstGeom>
        </p:spPr>
      </p:pic>
      <p:pic>
        <p:nvPicPr>
          <p:cNvPr id="182" name="constraint_icon" descr="constraint_shiel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34813" y="3797603"/>
            <a:ext cx="165718" cy="280007"/>
          </a:xfrm>
          <a:prstGeom prst="rect">
            <a:avLst/>
          </a:prstGeom>
        </p:spPr>
      </p:pic>
      <p:pic>
        <p:nvPicPr>
          <p:cNvPr id="183" name="brain_scheduler_icon" descr="brain_scheduler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59047" y="4340118"/>
            <a:ext cx="582307" cy="568765"/>
          </a:xfrm>
          <a:prstGeom prst="rect">
            <a:avLst/>
          </a:prstGeom>
        </p:spPr>
      </p:pic>
      <p:pic>
        <p:nvPicPr>
          <p:cNvPr id="184" name="policy_update_icon" descr="dispatch_nodes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92677" y="5398809"/>
            <a:ext cx="280007" cy="227682"/>
          </a:xfrm>
          <a:prstGeom prst="rect">
            <a:avLst/>
          </a:prstGeom>
        </p:spPr>
      </p:pic>
      <p:pic>
        <p:nvPicPr>
          <p:cNvPr id="185" name="anomaly_icon" descr="alarm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44000" y="3920914"/>
            <a:ext cx="385010" cy="225891"/>
          </a:xfrm>
          <a:prstGeom prst="rect">
            <a:avLst/>
          </a:prstGeom>
        </p:spPr>
      </p:pic>
      <p:pic>
        <p:nvPicPr>
          <p:cNvPr id="186" name="collab_icon" descr="robot_collab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90929" y="4480122"/>
            <a:ext cx="308651" cy="367510"/>
          </a:xfrm>
          <a:prstGeom prst="rect">
            <a:avLst/>
          </a:prstGeom>
        </p:spPr>
      </p:pic>
      <p:pic>
        <p:nvPicPr>
          <p:cNvPr id="187" name="status_eval_icon" descr="status_bars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52750" y="5171753"/>
            <a:ext cx="385010" cy="366785"/>
          </a:xfrm>
          <a:prstGeom prst="rect">
            <a:avLst/>
          </a:prstGeom>
        </p:spPr>
      </p:pic>
      <p:pic>
        <p:nvPicPr>
          <p:cNvPr id="188" name="resource_pool_group_icon" descr="resource_pool_group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682640" y="4305117"/>
            <a:ext cx="592873" cy="350009"/>
          </a:xfrm>
          <a:prstGeom prst="rect">
            <a:avLst/>
          </a:prstGeom>
        </p:spPr>
      </p:pic>
      <p:pic>
        <p:nvPicPr>
          <p:cNvPr id="189" name="device_pool_group_icon" descr="device_pool_group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501088" y="5022637"/>
            <a:ext cx="955978" cy="385010"/>
          </a:xfrm>
          <a:prstGeom prst="rect">
            <a:avLst/>
          </a:prstGeom>
        </p:spPr>
      </p:pic>
      <p:pic>
        <p:nvPicPr>
          <p:cNvPr id="190" name="output_layer_icon" descr="output_monitor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15008" y="6940156"/>
            <a:ext cx="542514" cy="452579"/>
          </a:xfrm>
          <a:prstGeom prst="rect">
            <a:avLst/>
          </a:prstGeom>
        </p:spPr>
      </p:pic>
      <p:pic>
        <p:nvPicPr>
          <p:cNvPr id="191" name="decision_graph_icon" descr="dispatch_nodes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85972" y="6842687"/>
            <a:ext cx="645669" cy="525014"/>
          </a:xfrm>
          <a:prstGeom prst="rect">
            <a:avLst/>
          </a:prstGeom>
        </p:spPr>
      </p:pic>
      <p:pic>
        <p:nvPicPr>
          <p:cNvPr id="192" name="execution_doc_icon" descr="task_assign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74835" y="6921439"/>
            <a:ext cx="480537" cy="612516"/>
          </a:xfrm>
          <a:prstGeom prst="rect">
            <a:avLst/>
          </a:prstGeom>
        </p:spPr>
      </p:pic>
      <p:pic>
        <p:nvPicPr>
          <p:cNvPr id="193" name="route_icon" descr="route_kpi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900133" y="6958315"/>
            <a:ext cx="840022" cy="460012"/>
          </a:xfrm>
          <a:prstGeom prst="rect">
            <a:avLst/>
          </a:prstGeom>
        </p:spPr>
      </p:pic>
      <p:pic>
        <p:nvPicPr>
          <p:cNvPr id="194" name="alarm_output_icon" descr="alarm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57676" y="6966223"/>
            <a:ext cx="682518" cy="400444"/>
          </a:xfrm>
          <a:prstGeom prst="rect">
            <a:avLst/>
          </a:prstGeom>
        </p:spPr>
      </p:pic>
      <p:pic>
        <p:nvPicPr>
          <p:cNvPr id="195" name="energy_output_icon" descr="energy_leaf_battery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35211" y="6927666"/>
            <a:ext cx="700019" cy="503809"/>
          </a:xfrm>
          <a:prstGeom prst="rect">
            <a:avLst/>
          </a:prstGeom>
        </p:spPr>
      </p:pic>
      <p:pic>
        <p:nvPicPr>
          <p:cNvPr id="196" name="kpi_bar_completion" descr="kpi_bar_1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099738" y="7175196"/>
            <a:ext cx="438531" cy="367510"/>
          </a:xfrm>
          <a:prstGeom prst="rect">
            <a:avLst/>
          </a:prstGeom>
        </p:spPr>
      </p:pic>
      <p:pic>
        <p:nvPicPr>
          <p:cNvPr id="197" name="kpi_bar_utilization" descr="kpi_bar_2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095688" y="7175196"/>
            <a:ext cx="441686" cy="367510"/>
          </a:xfrm>
          <a:prstGeom prst="rect">
            <a:avLst/>
          </a:prstGeom>
        </p:spPr>
      </p:pic>
      <p:pic>
        <p:nvPicPr>
          <p:cNvPr id="198" name="kpi_line_response" descr="kpi_line_blu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154467" y="7175196"/>
            <a:ext cx="441686" cy="367510"/>
          </a:xfrm>
          <a:prstGeom prst="rect">
            <a:avLst/>
          </a:prstGeom>
        </p:spPr>
      </p:pic>
      <p:pic>
        <p:nvPicPr>
          <p:cNvPr id="199" name="kpi_line_energy" descr="kpi_line_green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2160272" y="7175196"/>
            <a:ext cx="425131" cy="367510"/>
          </a:xfrm>
          <a:prstGeom prst="rect">
            <a:avLst/>
          </a:prstGeom>
        </p:spPr>
      </p:pic>
      <p:pic>
        <p:nvPicPr>
          <p:cNvPr id="200" name="kpi_line_anomaly" descr="kpi_line_oran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3147477" y="7175196"/>
            <a:ext cx="445776" cy="3675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148</Words>
  <Application>Microsoft Office PowerPoint</Application>
  <PresentationFormat>自定义</PresentationFormat>
  <Paragraphs>75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weizhiwei</cp:lastModifiedBy>
  <cp:revision>2</cp:revision>
  <dcterms:created xsi:type="dcterms:W3CDTF">2013-01-27T09:14:16Z</dcterms:created>
  <dcterms:modified xsi:type="dcterms:W3CDTF">2026-04-26T02:53:50Z</dcterms:modified>
  <cp:category/>
</cp:coreProperties>
</file>