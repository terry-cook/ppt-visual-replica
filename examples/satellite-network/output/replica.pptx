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67542" y="87085"/>
            <a:ext cx="11495314" cy="47897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2900" b="1">
                <a:solidFill>
                  <a:srgbClr val="0B2B78"/>
                </a:solidFill>
                <a:latin typeface="Microsoft YaHei"/>
              </a:defRPr>
            </a:pPr>
            <a:r>
              <a:t>面向异构卫星网络的多智能体协同卸载与资源调度总体架构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2399" y="609600"/>
            <a:ext cx="6705600" cy="31350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700" b="1">
                <a:solidFill>
                  <a:srgbClr val="0B2B78"/>
                </a:solidFill>
                <a:latin typeface="Microsoft YaHei"/>
              </a:defRPr>
            </a:pPr>
            <a:r>
              <a:t>融合业务态势感知、低交互协同卸载与仿真验证的研究框架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6754" y="957942"/>
            <a:ext cx="1445622" cy="1375954"/>
          </a:xfrm>
          <a:prstGeom prst="roundRect">
            <a:avLst/>
          </a:prstGeom>
          <a:solidFill>
            <a:srgbClr val="0758BA"/>
          </a:solidFill>
          <a:ln w="1270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800" y="1306285"/>
            <a:ext cx="1114697" cy="609600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研究背景</a:t>
            </a:r>
          </a:p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与应用场景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2377" y="957942"/>
            <a:ext cx="11364685" cy="13759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ce_earth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975360"/>
            <a:ext cx="11321142" cy="1341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351314" y="1114697"/>
            <a:ext cx="2612571" cy="592182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068" y="1230469"/>
            <a:ext cx="383177" cy="3606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95748" y="1210491"/>
            <a:ext cx="1846217" cy="43542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异构卫星网络规模扩大，</a:t>
            </a:r>
          </a:p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星间协作关系复杂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4742" y="1114697"/>
            <a:ext cx="2438400" cy="592182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base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443" y="1227908"/>
            <a:ext cx="311285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9177" y="1210491"/>
            <a:ext cx="1672045" cy="43542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多源状态信息分散，</a:t>
            </a:r>
          </a:p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业务态势动态演化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1085" y="1114697"/>
            <a:ext cx="2873828" cy="592182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r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603" y="1227908"/>
            <a:ext cx="369651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0" y="1210491"/>
            <a:ext cx="2107474" cy="43542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任务负载波动明显，</a:t>
            </a:r>
          </a:p>
          <a:p>
            <a:pPr algn="l">
              <a:defRPr sz="1450" b="1">
                <a:solidFill>
                  <a:srgbClr val="0B2B78"/>
                </a:solidFill>
                <a:latin typeface="Microsoft YaHei"/>
              </a:defRPr>
            </a:pPr>
            <a:r>
              <a:t>资源调度稳定性要求高</a:t>
            </a:r>
          </a:p>
        </p:txBody>
      </p:sp>
      <p:pic>
        <p:nvPicPr>
          <p:cNvPr id="17" name="Picture 16" descr="ground_s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2148" y="1915885"/>
            <a:ext cx="257737" cy="296091"/>
          </a:xfrm>
          <a:prstGeom prst="rect">
            <a:avLst/>
          </a:prstGeom>
        </p:spPr>
      </p:pic>
      <p:pic>
        <p:nvPicPr>
          <p:cNvPr id="18" name="Picture 17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85" y="1959428"/>
            <a:ext cx="296091" cy="278674"/>
          </a:xfrm>
          <a:prstGeom prst="rect">
            <a:avLst/>
          </a:prstGeom>
        </p:spPr>
      </p:pic>
      <p:pic>
        <p:nvPicPr>
          <p:cNvPr id="19" name="Picture 18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742" y="1905640"/>
            <a:ext cx="243839" cy="229496"/>
          </a:xfrm>
          <a:prstGeom prst="rect">
            <a:avLst/>
          </a:prstGeom>
        </p:spPr>
      </p:pic>
      <p:pic>
        <p:nvPicPr>
          <p:cNvPr id="20" name="Picture 19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657" y="1731468"/>
            <a:ext cx="243839" cy="229496"/>
          </a:xfrm>
          <a:prstGeom prst="rect">
            <a:avLst/>
          </a:prstGeom>
        </p:spPr>
      </p:pic>
      <p:pic>
        <p:nvPicPr>
          <p:cNvPr id="21" name="Picture 20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057" y="1924082"/>
            <a:ext cx="278674" cy="262281"/>
          </a:xfrm>
          <a:prstGeom prst="rect">
            <a:avLst/>
          </a:prstGeom>
        </p:spPr>
      </p:pic>
      <p:pic>
        <p:nvPicPr>
          <p:cNvPr id="22" name="Picture 21" descr="ground_s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9731" y="1915885"/>
            <a:ext cx="333542" cy="383177"/>
          </a:xfrm>
          <a:prstGeom prst="rect">
            <a:avLst/>
          </a:prstGeom>
        </p:spPr>
      </p:pic>
      <p:pic>
        <p:nvPicPr>
          <p:cNvPr id="23" name="Picture 22" descr="task_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9183" y="1863634"/>
            <a:ext cx="161404" cy="174171"/>
          </a:xfrm>
          <a:prstGeom prst="rect">
            <a:avLst/>
          </a:prstGeom>
        </p:spPr>
      </p:pic>
      <p:pic>
        <p:nvPicPr>
          <p:cNvPr id="24" name="Picture 23" descr="task_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554" y="1846217"/>
            <a:ext cx="161404" cy="174171"/>
          </a:xfrm>
          <a:prstGeom prst="rect">
            <a:avLst/>
          </a:prstGeom>
        </p:spPr>
      </p:pic>
      <p:pic>
        <p:nvPicPr>
          <p:cNvPr id="25" name="Picture 24" descr="task_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6668" y="1863634"/>
            <a:ext cx="161404" cy="174171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 flipV="1">
            <a:off x="2177142" y="1950720"/>
            <a:ext cx="2786743" cy="69668"/>
          </a:xfrm>
          <a:prstGeom prst="line">
            <a:avLst/>
          </a:prstGeom>
          <a:ln w="1651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963885" y="1898468"/>
            <a:ext cx="2438400" cy="52252"/>
          </a:xfrm>
          <a:prstGeom prst="line">
            <a:avLst/>
          </a:prstGeom>
          <a:ln w="1651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02285" y="1898468"/>
            <a:ext cx="2333897" cy="52252"/>
          </a:xfrm>
          <a:prstGeom prst="line">
            <a:avLst/>
          </a:prstGeom>
          <a:ln w="1651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36182" y="1950720"/>
            <a:ext cx="2412275" cy="0"/>
          </a:xfrm>
          <a:prstGeom prst="line">
            <a:avLst/>
          </a:prstGeom>
          <a:ln w="1651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94857" y="1898468"/>
            <a:ext cx="2133600" cy="182880"/>
          </a:xfrm>
          <a:prstGeom prst="line">
            <a:avLst/>
          </a:prstGeom>
          <a:ln w="16510">
            <a:solidFill>
              <a:srgbClr val="EA6B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84228" y="2020388"/>
            <a:ext cx="2090057" cy="104503"/>
          </a:xfrm>
          <a:prstGeom prst="line">
            <a:avLst/>
          </a:prstGeom>
          <a:ln w="16510">
            <a:solidFill>
              <a:srgbClr val="EA6B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975771" y="957942"/>
            <a:ext cx="1497874" cy="137595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041" y="1114697"/>
            <a:ext cx="203562" cy="19158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628914" y="1097280"/>
            <a:ext cx="714102" cy="21771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950" b="0">
                <a:solidFill>
                  <a:srgbClr val="0B2B78"/>
                </a:solidFill>
                <a:latin typeface="Microsoft YaHei"/>
              </a:defRPr>
            </a:pPr>
            <a:r>
              <a:t>卫星节点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19611" y="1428205"/>
            <a:ext cx="383177" cy="0"/>
          </a:xfrm>
          <a:prstGeom prst="line">
            <a:avLst/>
          </a:prstGeom>
          <a:ln w="16510">
            <a:solidFill>
              <a:srgbClr val="0B2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628914" y="1323702"/>
            <a:ext cx="714102" cy="21771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950" b="0">
                <a:solidFill>
                  <a:srgbClr val="0B2B78"/>
                </a:solidFill>
                <a:latin typeface="Microsoft YaHei"/>
              </a:defRPr>
            </a:pPr>
            <a:r>
              <a:t>星间链路</a:t>
            </a:r>
          </a:p>
        </p:txBody>
      </p:sp>
      <p:pic>
        <p:nvPicPr>
          <p:cNvPr id="37" name="Picture 36" descr="task_cu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44050" y="1567542"/>
            <a:ext cx="177545" cy="1915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628914" y="1550125"/>
            <a:ext cx="714102" cy="21771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950" b="0">
                <a:solidFill>
                  <a:srgbClr val="0B2B78"/>
                </a:solidFill>
                <a:latin typeface="Microsoft YaHei"/>
              </a:defRPr>
            </a:pPr>
            <a:r>
              <a:t>任务数据流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219611" y="1881051"/>
            <a:ext cx="383177" cy="0"/>
          </a:xfrm>
          <a:prstGeom prst="line">
            <a:avLst/>
          </a:prstGeom>
          <a:ln w="16510">
            <a:solidFill>
              <a:srgbClr val="EA6B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628914" y="1776548"/>
            <a:ext cx="714102" cy="21771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950" b="0">
                <a:solidFill>
                  <a:srgbClr val="0B2B78"/>
                </a:solidFill>
                <a:latin typeface="Microsoft YaHei"/>
              </a:defRPr>
            </a:pPr>
            <a:r>
              <a:t>业务态势流</a:t>
            </a:r>
          </a:p>
        </p:txBody>
      </p:sp>
      <p:pic>
        <p:nvPicPr>
          <p:cNvPr id="41" name="Picture 40" descr="ground_s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9437" y="2020388"/>
            <a:ext cx="166771" cy="1915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628914" y="2002971"/>
            <a:ext cx="714102" cy="21771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950" b="0">
                <a:solidFill>
                  <a:srgbClr val="0B2B78"/>
                </a:solidFill>
                <a:latin typeface="Microsoft YaHei"/>
              </a:defRPr>
            </a:pPr>
            <a:r>
              <a:t>地面站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6754" y="2473234"/>
            <a:ext cx="2037805" cy="1358537"/>
          </a:xfrm>
          <a:prstGeom prst="roundRect">
            <a:avLst/>
          </a:prstGeom>
          <a:solidFill>
            <a:srgbClr val="0758BA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674" y="2612571"/>
            <a:ext cx="1828800" cy="67926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研究内容 1：</a:t>
            </a:r>
          </a:p>
          <a:p>
            <a:pPr algn="l"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基于业务态势时空扩展图</a:t>
            </a:r>
          </a:p>
          <a:p>
            <a:pPr algn="l">
              <a:defRPr sz="1370" b="1">
                <a:solidFill>
                  <a:srgbClr val="FFFFFF"/>
                </a:solidFill>
                <a:latin typeface="Microsoft YaHei"/>
              </a:defRPr>
            </a:pPr>
            <a:r>
              <a:t>的关联机理分析</a:t>
            </a:r>
          </a:p>
        </p:txBody>
      </p:sp>
      <p:pic>
        <p:nvPicPr>
          <p:cNvPr id="45" name="Picture 44" descr="network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29" y="3326674"/>
            <a:ext cx="491083" cy="383177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177142" y="2473234"/>
            <a:ext cx="11216640" cy="135853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699657" y="2595154"/>
            <a:ext cx="1785257" cy="923108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6742" y="2664822"/>
            <a:ext cx="1611085" cy="27867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多源状态信息融合</a:t>
            </a:r>
          </a:p>
        </p:txBody>
      </p:sp>
      <p:pic>
        <p:nvPicPr>
          <p:cNvPr id="49" name="Picture 48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470" y="3013165"/>
            <a:ext cx="425631" cy="400594"/>
          </a:xfrm>
          <a:prstGeom prst="rect">
            <a:avLst/>
          </a:prstGeom>
        </p:spPr>
      </p:pic>
      <p:sp>
        <p:nvSpPr>
          <p:cNvPr id="50" name="Right Arrow 49"/>
          <p:cNvSpPr/>
          <p:nvPr/>
        </p:nvSpPr>
        <p:spPr>
          <a:xfrm>
            <a:off x="4615542" y="2978331"/>
            <a:ext cx="330925" cy="191588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50971" y="2595154"/>
            <a:ext cx="1480457" cy="923108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38057" y="2664822"/>
            <a:ext cx="1306285" cy="27867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业务态势感知</a:t>
            </a:r>
          </a:p>
        </p:txBody>
      </p:sp>
      <p:pic>
        <p:nvPicPr>
          <p:cNvPr id="53" name="Picture 52" descr="line_pie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6033" y="3013165"/>
            <a:ext cx="530332" cy="400594"/>
          </a:xfrm>
          <a:prstGeom prst="rect">
            <a:avLst/>
          </a:prstGeom>
        </p:spPr>
      </p:pic>
      <p:sp>
        <p:nvSpPr>
          <p:cNvPr id="54" name="Right Arrow 53"/>
          <p:cNvSpPr/>
          <p:nvPr/>
        </p:nvSpPr>
        <p:spPr>
          <a:xfrm>
            <a:off x="6662057" y="2978331"/>
            <a:ext cx="330925" cy="191588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097485" y="2595154"/>
            <a:ext cx="1567542" cy="923108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84571" y="2664822"/>
            <a:ext cx="1393371" cy="27867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动态协作计算</a:t>
            </a:r>
          </a:p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关系建模</a:t>
            </a:r>
          </a:p>
        </p:txBody>
      </p:sp>
      <p:pic>
        <p:nvPicPr>
          <p:cNvPr id="57" name="Picture 56" descr="network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4554" y="3013165"/>
            <a:ext cx="513405" cy="400594"/>
          </a:xfrm>
          <a:prstGeom prst="rect">
            <a:avLst/>
          </a:prstGeom>
        </p:spPr>
      </p:pic>
      <p:sp>
        <p:nvSpPr>
          <p:cNvPr id="58" name="Right Arrow 57"/>
          <p:cNvSpPr/>
          <p:nvPr/>
        </p:nvSpPr>
        <p:spPr>
          <a:xfrm>
            <a:off x="8795657" y="2978331"/>
            <a:ext cx="330925" cy="191588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31085" y="2595154"/>
            <a:ext cx="1602377" cy="923108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18171" y="2664822"/>
            <a:ext cx="1428205" cy="27867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时空扩展图构建</a:t>
            </a:r>
          </a:p>
        </p:txBody>
      </p:sp>
      <p:pic>
        <p:nvPicPr>
          <p:cNvPr id="61" name="Picture 60" descr="network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5571" y="3013165"/>
            <a:ext cx="513405" cy="400594"/>
          </a:xfrm>
          <a:prstGeom prst="rect">
            <a:avLst/>
          </a:prstGeom>
        </p:spPr>
      </p:pic>
      <p:sp>
        <p:nvSpPr>
          <p:cNvPr id="62" name="Right Arrow 61"/>
          <p:cNvSpPr/>
          <p:nvPr/>
        </p:nvSpPr>
        <p:spPr>
          <a:xfrm>
            <a:off x="10964091" y="2978331"/>
            <a:ext cx="330925" cy="191588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408228" y="2595154"/>
            <a:ext cx="1480457" cy="923108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95314" y="2664822"/>
            <a:ext cx="1306285" cy="27867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静态图扩展的</a:t>
            </a:r>
          </a:p>
          <a:p>
            <a:pPr algn="ctr">
              <a:defRPr sz="1350" b="1">
                <a:solidFill>
                  <a:srgbClr val="0B2B78"/>
                </a:solidFill>
                <a:latin typeface="Microsoft YaHei"/>
              </a:defRPr>
            </a:pPr>
            <a:r>
              <a:t>可靠转换路径</a:t>
            </a:r>
          </a:p>
        </p:txBody>
      </p:sp>
      <p:pic>
        <p:nvPicPr>
          <p:cNvPr id="65" name="Picture 64" descr="shield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78256" y="3013165"/>
            <a:ext cx="340401" cy="40059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528457" y="3570514"/>
            <a:ext cx="6618514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120" b="1">
                <a:solidFill>
                  <a:srgbClr val="0B2B78"/>
                </a:solidFill>
                <a:latin typeface="Microsoft YaHei"/>
              </a:defRPr>
            </a:pPr>
            <a:r>
              <a:t>目标：揭示业务态势与协作关系的关联机理，为卸载决策提供结构化表征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7010400" y="2281645"/>
            <a:ext cx="365760" cy="313508"/>
          </a:xfrm>
          <a:prstGeom prst="down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7010400" y="3762102"/>
            <a:ext cx="365760" cy="296091"/>
          </a:xfrm>
          <a:prstGeom prst="down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93874" y="3831771"/>
            <a:ext cx="1654628" cy="15675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960" b="1">
                <a:solidFill>
                  <a:srgbClr val="0B2B78"/>
                </a:solidFill>
                <a:latin typeface="Microsoft YaHei"/>
              </a:defRPr>
            </a:pPr>
            <a:r>
              <a:t>表征支撑决策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6754" y="3962399"/>
            <a:ext cx="2037805" cy="1480457"/>
          </a:xfrm>
          <a:prstGeom prst="roundRect">
            <a:avLst/>
          </a:prstGeom>
          <a:solidFill>
            <a:srgbClr val="0758BA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8674" y="4110445"/>
            <a:ext cx="1828800" cy="766354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研究内容 2：</a:t>
            </a:r>
          </a:p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基于多智能体强化学习的</a:t>
            </a:r>
          </a:p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低交互协同卸载技术</a:t>
            </a:r>
          </a:p>
        </p:txBody>
      </p:sp>
      <p:pic>
        <p:nvPicPr>
          <p:cNvPr id="72" name="Picture 71" descr="collaboration_grou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71" y="4911634"/>
            <a:ext cx="406616" cy="36576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2177142" y="3962399"/>
            <a:ext cx="11216640" cy="148045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960914" y="4127862"/>
            <a:ext cx="1741714" cy="1062445"/>
          </a:xfrm>
          <a:prstGeom prst="roundRect">
            <a:avLst/>
          </a:prstGeom>
          <a:solidFill>
            <a:srgbClr val="F4F8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document_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8628" y="4275204"/>
            <a:ext cx="243840" cy="19299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605348" y="4267200"/>
            <a:ext cx="801188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280" b="1">
                <a:solidFill>
                  <a:srgbClr val="0B2B78"/>
                </a:solidFill>
                <a:latin typeface="Microsoft YaHei"/>
              </a:defRPr>
            </a:pPr>
            <a:r>
              <a:t>任务需求</a:t>
            </a:r>
          </a:p>
        </p:txBody>
      </p:sp>
      <p:pic>
        <p:nvPicPr>
          <p:cNvPr id="77" name="Picture 76" descr="server_ra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2072" y="4580708"/>
            <a:ext cx="236951" cy="2438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605348" y="4598125"/>
            <a:ext cx="801188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280" b="1">
                <a:solidFill>
                  <a:srgbClr val="0B2B78"/>
                </a:solidFill>
                <a:latin typeface="Microsoft YaHei"/>
              </a:defRPr>
            </a:pPr>
            <a:r>
              <a:t>资源状态</a:t>
            </a:r>
          </a:p>
        </p:txBody>
      </p:sp>
      <p:pic>
        <p:nvPicPr>
          <p:cNvPr id="79" name="Picture 78" descr="wireless_statu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8628" y="4932570"/>
            <a:ext cx="243840" cy="2019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3605348" y="4929051"/>
            <a:ext cx="801188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280" b="1">
                <a:solidFill>
                  <a:srgbClr val="0B2B78"/>
                </a:solidFill>
                <a:latin typeface="Microsoft YaHei"/>
              </a:defRPr>
            </a:pPr>
            <a:r>
              <a:t>网络状态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4876800" y="4528457"/>
            <a:ext cx="505097" cy="243840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573485" y="4127862"/>
            <a:ext cx="4180114" cy="1062445"/>
          </a:xfrm>
          <a:prstGeom prst="roundRect">
            <a:avLst/>
          </a:prstGeom>
          <a:solidFill>
            <a:srgbClr val="F7FB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70171" y="4180114"/>
            <a:ext cx="2786742" cy="226422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500" b="1">
                <a:solidFill>
                  <a:srgbClr val="0B2B78"/>
                </a:solidFill>
                <a:latin typeface="Microsoft YaHei"/>
              </a:defRPr>
            </a:pPr>
            <a:r>
              <a:t>多智能体强化学习协同决策</a:t>
            </a:r>
          </a:p>
        </p:txBody>
      </p:sp>
      <p:pic>
        <p:nvPicPr>
          <p:cNvPr id="84" name="Picture 83" descr="robot_age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6016" y="4441371"/>
            <a:ext cx="325727" cy="330925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6479177" y="4598125"/>
            <a:ext cx="574765" cy="0"/>
          </a:xfrm>
          <a:prstGeom prst="line">
            <a:avLst/>
          </a:prstGeom>
          <a:ln w="13970">
            <a:solidFill>
              <a:srgbClr val="0B2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6" name="Picture 85" descr="robot_age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7501" y="4441371"/>
            <a:ext cx="325727" cy="330925"/>
          </a:xfrm>
          <a:prstGeom prst="rect">
            <a:avLst/>
          </a:prstGeom>
        </p:spPr>
      </p:pic>
      <p:cxnSp>
        <p:nvCxnSpPr>
          <p:cNvPr id="87" name="Connector 86"/>
          <p:cNvCxnSpPr/>
          <p:nvPr/>
        </p:nvCxnSpPr>
        <p:spPr>
          <a:xfrm>
            <a:off x="7480662" y="4598125"/>
            <a:ext cx="661852" cy="0"/>
          </a:xfrm>
          <a:prstGeom prst="line">
            <a:avLst/>
          </a:prstGeom>
          <a:ln w="13970">
            <a:solidFill>
              <a:srgbClr val="0B2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Picture 87" descr="robot_age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6073" y="4441371"/>
            <a:ext cx="325727" cy="330925"/>
          </a:xfrm>
          <a:prstGeom prst="rect">
            <a:avLst/>
          </a:prstGeom>
        </p:spPr>
      </p:pic>
      <p:cxnSp>
        <p:nvCxnSpPr>
          <p:cNvPr id="89" name="Connector 88"/>
          <p:cNvCxnSpPr/>
          <p:nvPr/>
        </p:nvCxnSpPr>
        <p:spPr>
          <a:xfrm>
            <a:off x="8569234" y="4598125"/>
            <a:ext cx="531223" cy="0"/>
          </a:xfrm>
          <a:prstGeom prst="line">
            <a:avLst/>
          </a:prstGeom>
          <a:ln w="13970">
            <a:solidFill>
              <a:srgbClr val="0B2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Picture 89" descr="robot_agen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4016" y="4441371"/>
            <a:ext cx="325727" cy="330925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5704114" y="4841965"/>
            <a:ext cx="1149531" cy="261257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EA6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04114" y="4859382"/>
            <a:ext cx="1149531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EA6B1D"/>
                </a:solidFill>
                <a:latin typeface="Microsoft YaHei"/>
              </a:defRPr>
            </a:pPr>
            <a:r>
              <a:t>分布式决策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254240" y="4841965"/>
            <a:ext cx="1149531" cy="261257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EA6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54240" y="4859382"/>
            <a:ext cx="1149531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EA6B1D"/>
                </a:solidFill>
                <a:latin typeface="Microsoft YaHei"/>
              </a:defRPr>
            </a:pPr>
            <a:r>
              <a:t>低交互开销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708571" y="4841965"/>
            <a:ext cx="1149531" cy="261257"/>
          </a:xfrm>
          <a:prstGeom prst="roundRect">
            <a:avLst/>
          </a:prstGeom>
          <a:solidFill>
            <a:srgbClr val="FFF7F2"/>
          </a:solidFill>
          <a:ln w="12700">
            <a:solidFill>
              <a:srgbClr val="EA6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708571" y="4859382"/>
            <a:ext cx="1149531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EA6B1D"/>
                </a:solidFill>
                <a:latin typeface="Microsoft YaHei"/>
              </a:defRPr>
            </a:pPr>
            <a:r>
              <a:t>高效协作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9910354" y="4528457"/>
            <a:ext cx="505097" cy="243840"/>
          </a:xfrm>
          <a:prstGeom prst="right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580914" y="4127862"/>
            <a:ext cx="2090057" cy="1062445"/>
          </a:xfrm>
          <a:prstGeom prst="roundRect">
            <a:avLst/>
          </a:prstGeom>
          <a:solidFill>
            <a:srgbClr val="F0FFFB"/>
          </a:solidFill>
          <a:ln w="15240">
            <a:solidFill>
              <a:srgbClr val="70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document_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8628" y="4291176"/>
            <a:ext cx="313508" cy="24813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1277600" y="4293325"/>
            <a:ext cx="975360" cy="243840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250" b="1">
                <a:solidFill>
                  <a:srgbClr val="0B2B78"/>
                </a:solidFill>
                <a:latin typeface="Microsoft YaHei"/>
              </a:defRPr>
            </a:pPr>
            <a:r>
              <a:t>协同卸载策略</a:t>
            </a:r>
          </a:p>
        </p:txBody>
      </p:sp>
      <p:pic>
        <p:nvPicPr>
          <p:cNvPr id="101" name="Picture 100" descr="server_ra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1519" y="4720045"/>
            <a:ext cx="287727" cy="296091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1277600" y="4746171"/>
            <a:ext cx="975360" cy="243840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250" b="1">
                <a:solidFill>
                  <a:srgbClr val="0B2B78"/>
                </a:solidFill>
                <a:latin typeface="Microsoft YaHei"/>
              </a:defRPr>
            </a:pPr>
            <a:r>
              <a:t>资源分配方案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50971" y="5259977"/>
            <a:ext cx="5050971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120" b="1">
                <a:solidFill>
                  <a:srgbClr val="0B2B78"/>
                </a:solidFill>
                <a:latin typeface="Microsoft YaHei"/>
              </a:defRPr>
            </a:pPr>
            <a:r>
              <a:t>目标：在低交互条件下实现多智能体高效协同卸载</a:t>
            </a:r>
          </a:p>
        </p:txBody>
      </p:sp>
      <p:sp>
        <p:nvSpPr>
          <p:cNvPr id="104" name="Down Arrow 103"/>
          <p:cNvSpPr/>
          <p:nvPr/>
        </p:nvSpPr>
        <p:spPr>
          <a:xfrm>
            <a:off x="7010400" y="5373188"/>
            <a:ext cx="365760" cy="296091"/>
          </a:xfrm>
          <a:prstGeom prst="down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76457" y="5468982"/>
            <a:ext cx="1480457" cy="139337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960" b="1">
                <a:solidFill>
                  <a:srgbClr val="0B2B78"/>
                </a:solidFill>
                <a:latin typeface="Microsoft YaHei"/>
              </a:defRPr>
            </a:pPr>
            <a:r>
              <a:t>策略嵌入仿真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6754" y="5573485"/>
            <a:ext cx="2037805" cy="1393371"/>
          </a:xfrm>
          <a:prstGeom prst="roundRect">
            <a:avLst/>
          </a:prstGeom>
          <a:solidFill>
            <a:srgbClr val="0758BA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8674" y="5712822"/>
            <a:ext cx="1828800" cy="714102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380" b="1">
                <a:solidFill>
                  <a:srgbClr val="FFFFFF"/>
                </a:solidFill>
                <a:latin typeface="Microsoft YaHei"/>
              </a:defRPr>
            </a:pPr>
            <a:r>
              <a:t>研究内容 3：</a:t>
            </a:r>
          </a:p>
          <a:p>
            <a:pPr algn="l">
              <a:defRPr sz="1380" b="1">
                <a:solidFill>
                  <a:srgbClr val="FFFFFF"/>
                </a:solidFill>
                <a:latin typeface="Microsoft YaHei"/>
              </a:defRPr>
            </a:pPr>
            <a:r>
              <a:t>多智能体资源协同</a:t>
            </a:r>
          </a:p>
          <a:p>
            <a:pPr algn="l">
              <a:defRPr sz="1380" b="1">
                <a:solidFill>
                  <a:srgbClr val="FFFFFF"/>
                </a:solidFill>
                <a:latin typeface="Microsoft YaHei"/>
              </a:defRPr>
            </a:pPr>
            <a:r>
              <a:t>调度仿真验证系统</a:t>
            </a:r>
          </a:p>
        </p:txBody>
      </p:sp>
      <p:pic>
        <p:nvPicPr>
          <p:cNvPr id="108" name="Picture 107" descr="monitor_dashboar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4086" y="6461760"/>
            <a:ext cx="454135" cy="383177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2177142" y="5573485"/>
            <a:ext cx="11216640" cy="139337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394857" y="5660571"/>
            <a:ext cx="3135085" cy="1201782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73828" y="5695405"/>
            <a:ext cx="2177142" cy="243840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500" b="1">
                <a:solidFill>
                  <a:srgbClr val="0B2B78"/>
                </a:solidFill>
                <a:latin typeface="Microsoft YaHei"/>
              </a:defRPr>
            </a:pPr>
            <a:r>
              <a:t>异构卫星智能体集群</a:t>
            </a:r>
          </a:p>
        </p:txBody>
      </p:sp>
      <p:pic>
        <p:nvPicPr>
          <p:cNvPr id="112" name="Picture 111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327" y="6008914"/>
            <a:ext cx="277585" cy="261257"/>
          </a:xfrm>
          <a:prstGeom prst="rect">
            <a:avLst/>
          </a:prstGeom>
        </p:spPr>
      </p:pic>
      <p:pic>
        <p:nvPicPr>
          <p:cNvPr id="113" name="Picture 112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927" y="6008914"/>
            <a:ext cx="277585" cy="261257"/>
          </a:xfrm>
          <a:prstGeom prst="rect">
            <a:avLst/>
          </a:prstGeom>
        </p:spPr>
      </p:pic>
      <p:pic>
        <p:nvPicPr>
          <p:cNvPr id="114" name="Picture 113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27" y="6008914"/>
            <a:ext cx="277585" cy="261257"/>
          </a:xfrm>
          <a:prstGeom prst="rect">
            <a:avLst/>
          </a:prstGeom>
        </p:spPr>
      </p:pic>
      <p:pic>
        <p:nvPicPr>
          <p:cNvPr id="115" name="Picture 114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127" y="6008914"/>
            <a:ext cx="277585" cy="261257"/>
          </a:xfrm>
          <a:prstGeom prst="rect">
            <a:avLst/>
          </a:prstGeom>
        </p:spPr>
      </p:pic>
      <p:pic>
        <p:nvPicPr>
          <p:cNvPr id="116" name="Picture 115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727" y="6008914"/>
            <a:ext cx="277585" cy="261257"/>
          </a:xfrm>
          <a:prstGeom prst="rect">
            <a:avLst/>
          </a:prstGeom>
        </p:spPr>
      </p:pic>
      <p:pic>
        <p:nvPicPr>
          <p:cNvPr id="117" name="Picture 116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001" y="6313714"/>
            <a:ext cx="277585" cy="261257"/>
          </a:xfrm>
          <a:prstGeom prst="rect">
            <a:avLst/>
          </a:prstGeom>
        </p:spPr>
      </p:pic>
      <p:pic>
        <p:nvPicPr>
          <p:cNvPr id="118" name="Picture 117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27" y="6313714"/>
            <a:ext cx="277585" cy="261257"/>
          </a:xfrm>
          <a:prstGeom prst="rect">
            <a:avLst/>
          </a:prstGeom>
        </p:spPr>
      </p:pic>
      <p:pic>
        <p:nvPicPr>
          <p:cNvPr id="119" name="Picture 118" descr="satellite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470" y="6313714"/>
            <a:ext cx="277585" cy="261257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135085" y="6635931"/>
            <a:ext cx="2090057" cy="17417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150" b="1">
                <a:solidFill>
                  <a:srgbClr val="0B2B78"/>
                </a:solidFill>
                <a:latin typeface="Microsoft YaHei"/>
              </a:defRPr>
            </a:pPr>
            <a:r>
              <a:t>种类不少于3种，数量不少于50个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008914" y="5660571"/>
            <a:ext cx="2917371" cy="1201782"/>
          </a:xfrm>
          <a:prstGeom prst="roundRect">
            <a:avLst/>
          </a:prstGeom>
          <a:solidFill>
            <a:srgbClr val="F9FB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05600" y="5695405"/>
            <a:ext cx="1567542" cy="243840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500" b="1">
                <a:solidFill>
                  <a:srgbClr val="0B2B78"/>
                </a:solidFill>
                <a:latin typeface="Microsoft YaHei"/>
              </a:defRPr>
            </a:pPr>
            <a:r>
              <a:t>任务负载场景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65668" y="6008914"/>
            <a:ext cx="783771" cy="679268"/>
          </a:xfrm>
          <a:prstGeom prst="roundRect">
            <a:avLst/>
          </a:prstGeom>
          <a:solidFill>
            <a:srgbClr val="FFF9F5"/>
          </a:solidFill>
          <a:ln w="15240">
            <a:solidFill>
              <a:srgbClr val="BF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65668" y="6061165"/>
            <a:ext cx="783771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EA6B1D"/>
                </a:solidFill>
                <a:latin typeface="Microsoft YaHei"/>
              </a:defRPr>
            </a:pPr>
            <a:r>
              <a:t>高负载</a:t>
            </a:r>
          </a:p>
        </p:txBody>
      </p:sp>
      <p:pic>
        <p:nvPicPr>
          <p:cNvPr id="125" name="Picture 124" descr="bar_chart_oran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9225" y="6305005"/>
            <a:ext cx="299241" cy="296091"/>
          </a:xfrm>
          <a:prstGeom prst="rect">
            <a:avLst/>
          </a:prstGeom>
        </p:spPr>
      </p:pic>
      <p:sp>
        <p:nvSpPr>
          <p:cNvPr id="126" name="Rounded Rectangle 125"/>
          <p:cNvSpPr/>
          <p:nvPr/>
        </p:nvSpPr>
        <p:spPr>
          <a:xfrm>
            <a:off x="7097485" y="6008914"/>
            <a:ext cx="783771" cy="679268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BF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097485" y="6061165"/>
            <a:ext cx="783771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0B2B78"/>
                </a:solidFill>
                <a:latin typeface="Microsoft YaHei"/>
              </a:defRPr>
            </a:pPr>
            <a:r>
              <a:t>中负载</a:t>
            </a:r>
          </a:p>
        </p:txBody>
      </p:sp>
      <p:pic>
        <p:nvPicPr>
          <p:cNvPr id="128" name="Picture 127" descr="bar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042" y="6305005"/>
            <a:ext cx="299241" cy="296091"/>
          </a:xfrm>
          <a:prstGeom prst="rect">
            <a:avLst/>
          </a:prstGeom>
        </p:spPr>
      </p:pic>
      <p:sp>
        <p:nvSpPr>
          <p:cNvPr id="129" name="Rounded Rectangle 128"/>
          <p:cNvSpPr/>
          <p:nvPr/>
        </p:nvSpPr>
        <p:spPr>
          <a:xfrm>
            <a:off x="8029302" y="6008914"/>
            <a:ext cx="783771" cy="679268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BF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29302" y="6061165"/>
            <a:ext cx="783771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3F9D43"/>
                </a:solidFill>
                <a:latin typeface="Microsoft YaHei"/>
              </a:defRPr>
            </a:pPr>
            <a:r>
              <a:t>低负载</a:t>
            </a:r>
          </a:p>
        </p:txBody>
      </p:sp>
      <p:pic>
        <p:nvPicPr>
          <p:cNvPr id="131" name="Picture 130" descr="bar_chart_gree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2859" y="6305005"/>
            <a:ext cx="299241" cy="296091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8969828" y="6183085"/>
            <a:ext cx="365760" cy="348342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2000" b="1">
                <a:solidFill>
                  <a:srgbClr val="0B2B78"/>
                </a:solidFill>
                <a:latin typeface="Microsoft YaHei"/>
              </a:defRPr>
            </a:pPr>
            <a:r>
              <a:t>...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18171" y="5660571"/>
            <a:ext cx="4005942" cy="1201782"/>
          </a:xfrm>
          <a:prstGeom prst="roundRect">
            <a:avLst/>
          </a:prstGeom>
          <a:solidFill>
            <a:srgbClr val="F4FAFF"/>
          </a:solidFill>
          <a:ln w="15240">
            <a:solidFill>
              <a:srgbClr val="7EA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276114" y="5695405"/>
            <a:ext cx="1828800" cy="226422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500" b="1">
                <a:solidFill>
                  <a:srgbClr val="0B2B78"/>
                </a:solidFill>
                <a:latin typeface="Microsoft YaHei"/>
              </a:defRPr>
            </a:pPr>
            <a:r>
              <a:t>仿真评估指标</a:t>
            </a:r>
          </a:p>
        </p:txBody>
      </p:sp>
      <p:pic>
        <p:nvPicPr>
          <p:cNvPr id="135" name="Picture 134" descr="circular_arrow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1578" y="6008914"/>
            <a:ext cx="220202" cy="226422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9840685" y="6017622"/>
            <a:ext cx="1654628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150" b="1">
                <a:solidFill>
                  <a:srgbClr val="0B2B78"/>
                </a:solidFill>
                <a:latin typeface="Microsoft YaHei"/>
              </a:defRPr>
            </a:pPr>
            <a:r>
              <a:t>任务卸载仿真验证</a:t>
            </a:r>
          </a:p>
        </p:txBody>
      </p:sp>
      <p:pic>
        <p:nvPicPr>
          <p:cNvPr id="137" name="Picture 136" descr="wireless_statu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760" y="6282398"/>
            <a:ext cx="243840" cy="20196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9840685" y="6278880"/>
            <a:ext cx="1654628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150" b="1">
                <a:solidFill>
                  <a:srgbClr val="0B2B78"/>
                </a:solidFill>
                <a:latin typeface="Microsoft YaHei"/>
              </a:defRPr>
            </a:pPr>
            <a:r>
              <a:t>协同调度性能评估</a:t>
            </a:r>
          </a:p>
        </p:txBody>
      </p:sp>
      <p:pic>
        <p:nvPicPr>
          <p:cNvPr id="139" name="Picture 138" descr="shield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5479" y="6531428"/>
            <a:ext cx="192400" cy="226422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9840685" y="6540137"/>
            <a:ext cx="1654628" cy="191588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150" b="1">
                <a:solidFill>
                  <a:srgbClr val="0B2B78"/>
                </a:solidFill>
                <a:latin typeface="Microsoft YaHei"/>
              </a:defRPr>
            </a:pPr>
            <a:r>
              <a:t>性能波动不超过10%</a:t>
            </a:r>
          </a:p>
        </p:txBody>
      </p:sp>
      <p:pic>
        <p:nvPicPr>
          <p:cNvPr id="141" name="Picture 140" descr="monitor_dashboar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745282" y="5799908"/>
            <a:ext cx="980520" cy="827314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4833257" y="6932022"/>
            <a:ext cx="6008914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0B2B78"/>
                </a:solidFill>
                <a:latin typeface="Microsoft YaHei"/>
              </a:defRPr>
            </a:pPr>
            <a:r>
              <a:t>目标：验证所提智能卸载方案在不同负载场景下的鲁棒性与稳定性</a:t>
            </a:r>
          </a:p>
        </p:txBody>
      </p:sp>
      <p:sp>
        <p:nvSpPr>
          <p:cNvPr id="143" name="Curved Down Arrow 142"/>
          <p:cNvSpPr/>
          <p:nvPr/>
        </p:nvSpPr>
        <p:spPr>
          <a:xfrm>
            <a:off x="13367657" y="3004457"/>
            <a:ext cx="836022" cy="3570514"/>
          </a:xfrm>
          <a:prstGeom prst="curvedDownArrow">
            <a:avLst/>
          </a:prstGeom>
          <a:solidFill>
            <a:srgbClr val="1E73D8"/>
          </a:solidFill>
          <a:ln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3759542" y="4397828"/>
            <a:ext cx="653142" cy="53993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300" b="1">
                <a:solidFill>
                  <a:srgbClr val="0B2B78"/>
                </a:solidFill>
                <a:latin typeface="Microsoft YaHei"/>
              </a:defRPr>
            </a:pPr>
            <a:r>
              <a:t>验证反馈</a:t>
            </a:r>
          </a:p>
          <a:p>
            <a:pPr algn="ctr">
              <a:defRPr sz="1300" b="1">
                <a:solidFill>
                  <a:srgbClr val="0B2B78"/>
                </a:solidFill>
                <a:latin typeface="Microsoft YaHei"/>
              </a:defRPr>
            </a:pPr>
            <a:r>
              <a:t>优化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56754" y="7271657"/>
            <a:ext cx="2159725" cy="836022"/>
          </a:xfrm>
          <a:prstGeom prst="roundRect">
            <a:avLst/>
          </a:prstGeom>
          <a:solidFill>
            <a:srgbClr val="0758BA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65760" y="7419702"/>
            <a:ext cx="1236617" cy="45284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总体产出 /</a:t>
            </a:r>
          </a:p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预期目标</a:t>
            </a:r>
          </a:p>
        </p:txBody>
      </p:sp>
      <p:pic>
        <p:nvPicPr>
          <p:cNvPr id="147" name="Picture 146" descr="targe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67542" y="7358742"/>
            <a:ext cx="539931" cy="539931"/>
          </a:xfrm>
          <a:prstGeom prst="rect">
            <a:avLst/>
          </a:prstGeom>
        </p:spPr>
      </p:pic>
      <p:sp>
        <p:nvSpPr>
          <p:cNvPr id="148" name="Rounded Rectangle 147"/>
          <p:cNvSpPr/>
          <p:nvPr/>
        </p:nvSpPr>
        <p:spPr>
          <a:xfrm>
            <a:off x="2316480" y="7271657"/>
            <a:ext cx="11321142" cy="83602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7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2612571" y="7419702"/>
            <a:ext cx="2090057" cy="45284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105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brain_hea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00269" y="7489371"/>
            <a:ext cx="286454" cy="313508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152502" y="7489371"/>
            <a:ext cx="1463040" cy="29609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105BC9"/>
                </a:solidFill>
                <a:latin typeface="Microsoft YaHei"/>
              </a:defRPr>
            </a:pPr>
            <a:r>
              <a:t>态势认知增强</a:t>
            </a:r>
          </a:p>
        </p:txBody>
      </p:sp>
      <p:sp>
        <p:nvSpPr>
          <p:cNvPr id="152" name="Right Arrow 151"/>
          <p:cNvSpPr/>
          <p:nvPr/>
        </p:nvSpPr>
        <p:spPr>
          <a:xfrm>
            <a:off x="4998720" y="7559040"/>
            <a:ext cx="418011" cy="191588"/>
          </a:xfrm>
          <a:prstGeom prst="rightArrow">
            <a:avLst/>
          </a:prstGeom>
          <a:solidFill>
            <a:srgbClr val="87A9D8"/>
          </a:solidFill>
          <a:ln>
            <a:solidFill>
              <a:srgbClr val="87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5486400" y="7419702"/>
            <a:ext cx="2090057" cy="45284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EA6B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network_graph_oran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43154" y="7510225"/>
            <a:ext cx="348342" cy="271801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6026331" y="7489371"/>
            <a:ext cx="1463040" cy="29609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EA6B1D"/>
                </a:solidFill>
                <a:latin typeface="Microsoft YaHei"/>
              </a:defRPr>
            </a:pPr>
            <a:r>
              <a:t>协同卸载优化</a:t>
            </a:r>
          </a:p>
        </p:txBody>
      </p:sp>
      <p:sp>
        <p:nvSpPr>
          <p:cNvPr id="156" name="Right Arrow 155"/>
          <p:cNvSpPr/>
          <p:nvPr/>
        </p:nvSpPr>
        <p:spPr>
          <a:xfrm>
            <a:off x="7872548" y="7559040"/>
            <a:ext cx="418011" cy="191588"/>
          </a:xfrm>
          <a:prstGeom prst="rightArrow">
            <a:avLst/>
          </a:prstGeom>
          <a:solidFill>
            <a:srgbClr val="87A9D8"/>
          </a:solidFill>
          <a:ln>
            <a:solidFill>
              <a:srgbClr val="87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8273142" y="7419702"/>
            <a:ext cx="2177142" cy="45284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0E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server_gear_tea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9897" y="7500019"/>
            <a:ext cx="348342" cy="292211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8813074" y="7489371"/>
            <a:ext cx="1550125" cy="29609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0E8D98"/>
                </a:solidFill>
                <a:latin typeface="Microsoft YaHei"/>
              </a:defRPr>
            </a:pPr>
            <a:r>
              <a:t>资源调度稳定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10746377" y="7559040"/>
            <a:ext cx="418011" cy="191588"/>
          </a:xfrm>
          <a:prstGeom prst="rightArrow">
            <a:avLst/>
          </a:prstGeom>
          <a:solidFill>
            <a:srgbClr val="87A9D8"/>
          </a:solidFill>
          <a:ln>
            <a:solidFill>
              <a:srgbClr val="87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1103428" y="7419702"/>
            <a:ext cx="2177142" cy="452845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105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2" name="Picture 161" descr="circular_arrow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1906" y="7489371"/>
            <a:ext cx="304895" cy="31350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1643360" y="7489371"/>
            <a:ext cx="1550125" cy="296091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l">
              <a:defRPr sz="1450" b="1">
                <a:solidFill>
                  <a:srgbClr val="105BC9"/>
                </a:solidFill>
                <a:latin typeface="Microsoft YaHei"/>
              </a:defRPr>
            </a:pPr>
            <a:r>
              <a:t>系统仿真验证闭环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833257" y="7872548"/>
            <a:ext cx="5399314" cy="209005"/>
          </a:xfrm>
          <a:prstGeom prst="rect">
            <a:avLst/>
          </a:prstGeom>
          <a:noFill/>
        </p:spPr>
        <p:txBody>
          <a:bodyPr wrap="none" lIns="34834" rIns="34834" tIns="8708" bIns="8708" anchor="ctr">
            <a:spAutoFit/>
          </a:bodyPr>
          <a:lstStyle/>
          <a:p>
            <a:pPr algn="ctr">
              <a:defRPr sz="1250" b="1">
                <a:solidFill>
                  <a:srgbClr val="0B2B78"/>
                </a:solidFill>
                <a:latin typeface="Microsoft YaHei"/>
              </a:defRPr>
            </a:pPr>
            <a:r>
              <a:t>形成从态势感知、决策优化到系统验证的一体化技术体系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